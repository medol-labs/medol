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4d1ed0384743d5" /><Relationship Type="http://schemas.openxmlformats.org/officeDocument/2006/relationships/extended-properties" Target="/docProps/app.xml" Id="R8d72a2177a9844bc" /><Relationship Type="http://schemas.openxmlformats.org/officeDocument/2006/relationships/officeDocument" Target="/ppt/presentation.xml" Id="R850180cce58c40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76b8c29f264b2d"/>
  </p:sldMasterIdLst>
  <p:notesMasterIdLst>
    <p:notesMasterId xmlns:r="http://schemas.openxmlformats.org/officeDocument/2006/relationships" r:id="R203f9f62f97f4b32"/>
  </p:notesMasterIdLst>
  <p:sldIdLst>
    <p:sldId xmlns:r="http://schemas.openxmlformats.org/officeDocument/2006/relationships" id="256" r:id="R908fee8311de44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ab43594f8b444d" /><Relationship Type="http://schemas.openxmlformats.org/officeDocument/2006/relationships/slideMaster" Target="/ppt/slideMasters/slideMaster1.xml" Id="R8076b8c29f264b2d" /><Relationship Type="http://schemas.openxmlformats.org/officeDocument/2006/relationships/notesMaster" Target="/ppt/notesMasters/notesMaster1.xml" Id="R203f9f62f97f4b32" /><Relationship Type="http://schemas.openxmlformats.org/officeDocument/2006/relationships/presProps" Target="/ppt/presProps.xml" Id="Rf21f248915bb48a2" /><Relationship Type="http://schemas.openxmlformats.org/officeDocument/2006/relationships/tableStyles" Target="/ppt/tableStyles.xml" Id="R608601132f294364" /><Relationship Type="http://schemas.openxmlformats.org/officeDocument/2006/relationships/slide" Target="/ppt/slides/slide1.xml" Id="R908fee8311de44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6ad5f3e14045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8dcbf4d9364879" /><Relationship Type="http://schemas.openxmlformats.org/officeDocument/2006/relationships/notesMaster" Target="/ppt/notesMasters/notesMaster1.xml" Id="Rd5c8fb33016242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MEDOL model: /Users/bryce/codes/medo/event-modeling/medol/examples/fl/federation-learning.medol</a:t>
            </a:r>
          </a:p>
          <a:p xmlns:a="http://schemas.openxmlformats.org/drawingml/2006/main">
            <a:r>
              <a:t>Capability grouping derived from modeled contexts, slices, concepts, integrations, read models, and deployment declarations.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4a4eb0ad441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f3df90a2f44d01" /><Relationship Type="http://schemas.openxmlformats.org/officeDocument/2006/relationships/slideLayout" Target="/ppt/slideLayouts/slideLayout1.xml" Id="R60d880aed2d0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d880aed2d0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fd04bc144d37" /><Relationship Type="http://schemas.openxmlformats.org/officeDocument/2006/relationships/notesSlide" Target="/ppt/notesSlides/notesSlide1.xml" Id="Rd9e11a6219884c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9B8986DC-C59F-47FF-B184-2236EC2B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FEDERATION LEARNING PLATFORM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B0822E-EEF2-4CCA-95B7-229CEAD5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联邦学习平台业务能力概述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2A2AC31-F3CF-488E-9B09-64D6AA32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围绕多机构协作训练，将成员治理、数据准入、运行时接入、训练编排、安全聚合、模型发布和审计运维串成可追踪闭环。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D2022B57-68CC-40BC-BEFC-638D1F7B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p-accent-1">
            <a:extLst xmlns:a="http://schemas.openxmlformats.org/drawingml/2006/main">
              <a:ext uri="{FF2B5EF4-FFF2-40B4-BE49-F238E27FC236}">
                <a16:creationId xmlns:a16="http://schemas.microsoft.com/office/drawing/2014/main" id="{CD84A6E9-6A7D-44F0-BEE8-9104D4AD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-title-1">
            <a:extLst xmlns:a="http://schemas.openxmlformats.org/drawingml/2006/main">
              <a:ext uri="{FF2B5EF4-FFF2-40B4-BE49-F238E27FC236}">
                <a16:creationId xmlns:a16="http://schemas.microsoft.com/office/drawing/2014/main" id="{46955DC7-E9EB-41C0-8B6E-25327B4C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协作治理</a:t>
            </a:r>
          </a:p>
        </p:txBody>
      </p:sp>
      <p:sp>
        <p:nvSpPr>
          <p:cNvPr id="7" name="cap-dot-1-1">
            <a:extLst xmlns:a="http://schemas.openxmlformats.org/drawingml/2006/main">
              <a:ext uri="{FF2B5EF4-FFF2-40B4-BE49-F238E27FC236}">
                <a16:creationId xmlns:a16="http://schemas.microsoft.com/office/drawing/2014/main" id="{43DE2917-CF11-475D-9ED2-A7ED8E0A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-item-1-1">
            <a:extLst xmlns:a="http://schemas.openxmlformats.org/drawingml/2006/main">
              <a:ext uri="{FF2B5EF4-FFF2-40B4-BE49-F238E27FC236}">
                <a16:creationId xmlns:a16="http://schemas.microsoft.com/office/drawing/2014/main" id="{4156E37D-0824-45DA-89D5-FAFBD34C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组织注册与启停</a:t>
            </a:r>
          </a:p>
        </p:txBody>
      </p:sp>
      <p:sp>
        <p:nvSpPr>
          <p:cNvPr id="9" name="cap-dot-1-2">
            <a:extLst xmlns:a="http://schemas.openxmlformats.org/drawingml/2006/main">
              <a:ext uri="{FF2B5EF4-FFF2-40B4-BE49-F238E27FC236}">
                <a16:creationId xmlns:a16="http://schemas.microsoft.com/office/drawing/2014/main" id="{3D09A9BE-E1E8-4E65-A5BE-BE1E4689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p-item-1-2">
            <a:extLst xmlns:a="http://schemas.openxmlformats.org/drawingml/2006/main">
              <a:ext uri="{FF2B5EF4-FFF2-40B4-BE49-F238E27FC236}">
                <a16:creationId xmlns:a16="http://schemas.microsoft.com/office/drawing/2014/main" id="{A815E667-E9C0-4BD8-887C-6AA5FDAB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联邦创建、邀请与成员状态</a:t>
            </a:r>
          </a:p>
        </p:txBody>
      </p:sp>
      <p:sp>
        <p:nvSpPr>
          <p:cNvPr id="11" name="cap-dot-1-3">
            <a:extLst xmlns:a="http://schemas.openxmlformats.org/drawingml/2006/main">
              <a:ext uri="{FF2B5EF4-FFF2-40B4-BE49-F238E27FC236}">
                <a16:creationId xmlns:a16="http://schemas.microsoft.com/office/drawing/2014/main" id="{1468FB23-EDDD-4990-BF88-412A6298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p-item-1-3">
            <a:extLst xmlns:a="http://schemas.openxmlformats.org/drawingml/2006/main">
              <a:ext uri="{FF2B5EF4-FFF2-40B4-BE49-F238E27FC236}">
                <a16:creationId xmlns:a16="http://schemas.microsoft.com/office/drawing/2014/main" id="{8B4A0BCB-B051-4590-AE06-2EA7B934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用户与机构绑定</a:t>
            </a:r>
          </a:p>
        </p:txBody>
      </p:sp>
      <p:sp>
        <p:nvSpPr>
          <p:cNvPr id="13" name="separator-1">
            <a:extLst xmlns:a="http://schemas.openxmlformats.org/drawingml/2006/main">
              <a:ext uri="{FF2B5EF4-FFF2-40B4-BE49-F238E27FC236}">
                <a16:creationId xmlns:a16="http://schemas.microsoft.com/office/drawing/2014/main" id="{6C064EF2-F7C1-479C-BF04-D3F58208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143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p-accent-2">
            <a:extLst xmlns:a="http://schemas.openxmlformats.org/drawingml/2006/main">
              <a:ext uri="{FF2B5EF4-FFF2-40B4-BE49-F238E27FC236}">
                <a16:creationId xmlns:a16="http://schemas.microsoft.com/office/drawing/2014/main" id="{59E27D56-254A-487E-A050-7315D099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-title-2">
            <a:extLst xmlns:a="http://schemas.openxmlformats.org/drawingml/2006/main">
              <a:ext uri="{FF2B5EF4-FFF2-40B4-BE49-F238E27FC236}">
                <a16:creationId xmlns:a16="http://schemas.microsoft.com/office/drawing/2014/main" id="{3AE33BAF-46D8-486C-853B-DBB0257F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数据与运行时</a:t>
            </a:r>
          </a:p>
        </p:txBody>
      </p:sp>
      <p:sp>
        <p:nvSpPr>
          <p:cNvPr id="16" name="cap-dot-2-1">
            <a:extLst xmlns:a="http://schemas.openxmlformats.org/drawingml/2006/main">
              <a:ext uri="{FF2B5EF4-FFF2-40B4-BE49-F238E27FC236}">
                <a16:creationId xmlns:a16="http://schemas.microsoft.com/office/drawing/2014/main" id="{C8A5213F-8E17-4F77-9B13-DFF2EB6F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p-item-2-1">
            <a:extLst xmlns:a="http://schemas.openxmlformats.org/drawingml/2006/main">
              <a:ext uri="{FF2B5EF4-FFF2-40B4-BE49-F238E27FC236}">
                <a16:creationId xmlns:a16="http://schemas.microsoft.com/office/drawing/2014/main" id="{59104C3F-C958-40AC-B865-F0282D01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特征 Schema 版本治理</a:t>
            </a:r>
          </a:p>
        </p:txBody>
      </p:sp>
      <p:sp>
        <p:nvSpPr>
          <p:cNvPr id="18" name="cap-dot-2-2">
            <a:extLst xmlns:a="http://schemas.openxmlformats.org/drawingml/2006/main">
              <a:ext uri="{FF2B5EF4-FFF2-40B4-BE49-F238E27FC236}">
                <a16:creationId xmlns:a16="http://schemas.microsoft.com/office/drawing/2014/main" id="{51EFCE86-333A-43F0-8E56-72C8E86F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p-item-2-2">
            <a:extLst xmlns:a="http://schemas.openxmlformats.org/drawingml/2006/main">
              <a:ext uri="{FF2B5EF4-FFF2-40B4-BE49-F238E27FC236}">
                <a16:creationId xmlns:a16="http://schemas.microsoft.com/office/drawing/2014/main" id="{6CB2DD5A-2EF5-4C0D-95FE-6FF94331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03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Runtime 安装、验证与连接</a:t>
            </a:r>
          </a:p>
        </p:txBody>
      </p:sp>
      <p:sp>
        <p:nvSpPr>
          <p:cNvPr id="20" name="cap-dot-2-3">
            <a:extLst xmlns:a="http://schemas.openxmlformats.org/drawingml/2006/main">
              <a:ext uri="{FF2B5EF4-FFF2-40B4-BE49-F238E27FC236}">
                <a16:creationId xmlns:a16="http://schemas.microsoft.com/office/drawing/2014/main" id="{7C3A58FE-206C-40C8-8873-343962F2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57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p-item-2-3">
            <a:extLst xmlns:a="http://schemas.openxmlformats.org/drawingml/2006/main">
              <a:ext uri="{FF2B5EF4-FFF2-40B4-BE49-F238E27FC236}">
                <a16:creationId xmlns:a16="http://schemas.microsoft.com/office/drawing/2014/main" id="{D01C304C-09E9-422B-A67C-32986A3F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数据集声明、画像与准入</a:t>
            </a:r>
          </a:p>
        </p:txBody>
      </p:sp>
      <p:sp>
        <p:nvSpPr>
          <p:cNvPr id="22" name="separator-2">
            <a:extLst xmlns:a="http://schemas.openxmlformats.org/drawingml/2006/main">
              <a:ext uri="{FF2B5EF4-FFF2-40B4-BE49-F238E27FC236}">
                <a16:creationId xmlns:a16="http://schemas.microsoft.com/office/drawing/2014/main" id="{9E6212FA-BB57-4EAE-925C-8C04A34D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1143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p-accent-3">
            <a:extLst xmlns:a="http://schemas.openxmlformats.org/drawingml/2006/main">
              <a:ext uri="{FF2B5EF4-FFF2-40B4-BE49-F238E27FC236}">
                <a16:creationId xmlns:a16="http://schemas.microsoft.com/office/drawing/2014/main" id="{7D2B2124-52D1-40BD-BFF7-76708E4B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p-title-3">
            <a:extLst xmlns:a="http://schemas.openxmlformats.org/drawingml/2006/main">
              <a:ext uri="{FF2B5EF4-FFF2-40B4-BE49-F238E27FC236}">
                <a16:creationId xmlns:a16="http://schemas.microsoft.com/office/drawing/2014/main" id="{5E26F833-F44C-4960-841D-41F23CCD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训练与聚合</a:t>
            </a:r>
          </a:p>
        </p:txBody>
      </p:sp>
      <p:sp>
        <p:nvSpPr>
          <p:cNvPr id="25" name="cap-dot-3-1">
            <a:extLst xmlns:a="http://schemas.openxmlformats.org/drawingml/2006/main">
              <a:ext uri="{FF2B5EF4-FFF2-40B4-BE49-F238E27FC236}">
                <a16:creationId xmlns:a16="http://schemas.microsoft.com/office/drawing/2014/main" id="{7F2E519C-77CF-4ADC-8E7E-6CA303A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p-item-3-1">
            <a:extLst xmlns:a="http://schemas.openxmlformats.org/drawingml/2006/main">
              <a:ext uri="{FF2B5EF4-FFF2-40B4-BE49-F238E27FC236}">
                <a16:creationId xmlns:a16="http://schemas.microsoft.com/office/drawing/2014/main" id="{A9F42403-DA1D-4610-A19D-35D53B51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训练配置、任务提交与轮次调度</a:t>
            </a:r>
          </a:p>
        </p:txBody>
      </p:sp>
      <p:sp>
        <p:nvSpPr>
          <p:cNvPr id="27" name="cap-dot-3-2">
            <a:extLst xmlns:a="http://schemas.openxmlformats.org/drawingml/2006/main">
              <a:ext uri="{FF2B5EF4-FFF2-40B4-BE49-F238E27FC236}">
                <a16:creationId xmlns:a16="http://schemas.microsoft.com/office/drawing/2014/main" id="{4537A2D5-BDDD-403F-AB54-36ED25D3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p-item-3-2">
            <a:extLst xmlns:a="http://schemas.openxmlformats.org/drawingml/2006/main">
              <a:ext uri="{FF2B5EF4-FFF2-40B4-BE49-F238E27FC236}">
                <a16:creationId xmlns:a16="http://schemas.microsoft.com/office/drawing/2014/main" id="{7E10237D-397E-45D6-90D6-5C262FF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参与方选择与本地执行计划</a:t>
            </a:r>
          </a:p>
        </p:txBody>
      </p:sp>
      <p:sp>
        <p:nvSpPr>
          <p:cNvPr id="29" name="cap-dot-3-3">
            <a:extLst xmlns:a="http://schemas.openxmlformats.org/drawingml/2006/main">
              <a:ext uri="{FF2B5EF4-FFF2-40B4-BE49-F238E27FC236}">
                <a16:creationId xmlns:a16="http://schemas.microsoft.com/office/drawing/2014/main" id="{F2D9C34C-9A7E-4CFD-8AB3-6E65554C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57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p-item-3-3">
            <a:extLst xmlns:a="http://schemas.openxmlformats.org/drawingml/2006/main">
              <a:ext uri="{FF2B5EF4-FFF2-40B4-BE49-F238E27FC236}">
                <a16:creationId xmlns:a16="http://schemas.microsoft.com/office/drawing/2014/main" id="{C74F1109-54BC-4F7E-87CC-95BECA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安全聚合、更新评估与全局模型</a:t>
            </a:r>
          </a:p>
        </p:txBody>
      </p:sp>
      <p:sp>
        <p:nvSpPr>
          <p:cNvPr id="31" name="separator-3">
            <a:extLst xmlns:a="http://schemas.openxmlformats.org/drawingml/2006/main">
              <a:ext uri="{FF2B5EF4-FFF2-40B4-BE49-F238E27FC236}">
                <a16:creationId xmlns:a16="http://schemas.microsoft.com/office/drawing/2014/main" id="{12890E90-8324-4266-B254-463D8B5F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76450"/>
            <a:ext cx="1143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ap-accent-4">
            <a:extLst xmlns:a="http://schemas.openxmlformats.org/drawingml/2006/main">
              <a:ext uri="{FF2B5EF4-FFF2-40B4-BE49-F238E27FC236}">
                <a16:creationId xmlns:a16="http://schemas.microsoft.com/office/drawing/2014/main" id="{B93CAB5B-1030-4AC7-B91B-4EAE4DB9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ap-title-4">
            <a:extLst xmlns:a="http://schemas.openxmlformats.org/drawingml/2006/main">
              <a:ext uri="{FF2B5EF4-FFF2-40B4-BE49-F238E27FC236}">
                <a16:creationId xmlns:a16="http://schemas.microsoft.com/office/drawing/2014/main" id="{90032A31-3D12-471B-8036-DE095406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模型与运维</a:t>
            </a:r>
          </a:p>
        </p:txBody>
      </p:sp>
      <p:sp>
        <p:nvSpPr>
          <p:cNvPr id="34" name="cap-dot-4-1">
            <a:extLst xmlns:a="http://schemas.openxmlformats.org/drawingml/2006/main">
              <a:ext uri="{FF2B5EF4-FFF2-40B4-BE49-F238E27FC236}">
                <a16:creationId xmlns:a16="http://schemas.microsoft.com/office/drawing/2014/main" id="{BE1D1853-2FE4-4B83-B7D8-8AAF33A2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p-item-4-1">
            <a:extLst xmlns:a="http://schemas.openxmlformats.org/drawingml/2006/main">
              <a:ext uri="{FF2B5EF4-FFF2-40B4-BE49-F238E27FC236}">
                <a16:creationId xmlns:a16="http://schemas.microsoft.com/office/drawing/2014/main" id="{3AC8D392-ECCB-49F3-B3C6-E2D1DA20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模型仓库与候选模型登记</a:t>
            </a:r>
          </a:p>
        </p:txBody>
      </p:sp>
      <p:sp>
        <p:nvSpPr>
          <p:cNvPr id="36" name="cap-dot-4-2">
            <a:extLst xmlns:a="http://schemas.openxmlformats.org/drawingml/2006/main">
              <a:ext uri="{FF2B5EF4-FFF2-40B4-BE49-F238E27FC236}">
                <a16:creationId xmlns:a16="http://schemas.microsoft.com/office/drawing/2014/main" id="{45F91253-630F-4178-801D-AE08BA2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p-item-4-2">
            <a:extLst xmlns:a="http://schemas.openxmlformats.org/drawingml/2006/main">
              <a:ext uri="{FF2B5EF4-FFF2-40B4-BE49-F238E27FC236}">
                <a16:creationId xmlns:a16="http://schemas.microsoft.com/office/drawing/2014/main" id="{DAA528D5-A237-498E-8D1C-AA56B5B5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评估包、审批、发布与回滚</a:t>
            </a:r>
          </a:p>
        </p:txBody>
      </p:sp>
      <p:sp>
        <p:nvSpPr>
          <p:cNvPr id="38" name="cap-dot-4-3">
            <a:extLst xmlns:a="http://schemas.openxmlformats.org/drawingml/2006/main">
              <a:ext uri="{FF2B5EF4-FFF2-40B4-BE49-F238E27FC236}">
                <a16:creationId xmlns:a16="http://schemas.microsoft.com/office/drawing/2014/main" id="{475DDB51-571D-416B-A879-E372692A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57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ap-item-4-3">
            <a:extLst xmlns:a="http://schemas.openxmlformats.org/drawingml/2006/main">
              <a:ext uri="{FF2B5EF4-FFF2-40B4-BE49-F238E27FC236}">
                <a16:creationId xmlns:a16="http://schemas.microsoft.com/office/drawing/2014/main" id="{1508D9C8-31F2-499E-BF4F-7827E0AB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334155"/>
                </a:solidFill>
              </a:defRPr>
            </a:pPr>
            <a:r>
              <a:rPr sz="1238">
                <a:solidFill>
                  <a:srgbClr val="334155"/>
                </a:solidFill>
              </a:rPr>
              <a:t>监控告警、审计追踪与文档导出</a:t>
            </a:r>
          </a:p>
        </p:txBody>
      </p:sp>
      <p:sp>
        <p:nvSpPr>
          <p:cNvPr id="40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A07E9B4-6624-4E66-9033-F8FEE0F4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1087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1" name="screenshot-inner">
            <a:extLst xmlns:a="http://schemas.openxmlformats.org/drawingml/2006/main">
              <a:ext uri="{FF2B5EF4-FFF2-40B4-BE49-F238E27FC236}">
                <a16:creationId xmlns:a16="http://schemas.microsoft.com/office/drawing/2014/main" id="{4359B4D8-58BE-49AA-A0BB-332F6129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0744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2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EA7C5EB5-65AA-4314-934C-CC90BDAE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系统截图占位区</a:t>
            </a:r>
          </a:p>
        </p:txBody>
      </p:sp>
      <p:sp>
        <p:nvSpPr>
          <p:cNvPr id="43" name="screenshot-hint">
            <a:extLst xmlns:a="http://schemas.openxmlformats.org/drawingml/2006/main">
              <a:ext uri="{FF2B5EF4-FFF2-40B4-BE49-F238E27FC236}">
                <a16:creationId xmlns:a16="http://schemas.microsoft.com/office/drawing/2014/main" id="{00530854-E0D3-49E4-A180-93541A37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建议粘贴：训练任务看板 / 训练轮次进度 / Runtime 节点状态 / 文档导出页面</a:t>
            </a:r>
          </a:p>
        </p:txBody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77BB4C2D-0A99-4D31-9169-8ED8EF65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基于 federation-learning.medol 领域模型整理</a:t>
            </a:r>
          </a:p>
        </p:txBody>
      </p:sp>
    </p:spTree>
    <p:extLst>
      <p:ext uri="{BB962C8B-B14F-4D97-AF65-F5344CB8AC3E}">
        <p14:creationId xmlns:p14="http://schemas.microsoft.com/office/powerpoint/2010/main" val="442650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2026-08-31T12:06:11.7380000Z</dcterms:created>
  <dcterms:modified xsi:type="dcterms:W3CDTF">2026-08-31T12:06:11.7380000Z</dcterms:modified>
</coreProperties>
</file>