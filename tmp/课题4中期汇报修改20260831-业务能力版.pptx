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0095" cy="685927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1613" cy="147161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7788"/>
            <a:ext cx="853281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8488"/>
            <a:ext cx="10361612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1612" cy="15017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5408613" cy="4527550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0613" y="1600200"/>
            <a:ext cx="5410200" cy="4527550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9600" y="2174875"/>
            <a:ext cx="5386388" cy="39528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92838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92838" y="2174875"/>
            <a:ext cx="5387975" cy="39528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0025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675" y="273050"/>
            <a:ext cx="6815138" cy="5854700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09600" y="1435100"/>
            <a:ext cx="4010025" cy="4692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2188"/>
            <a:ext cx="7315200" cy="566737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63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2389188" y="5368925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839200" y="274638"/>
            <a:ext cx="2741613" cy="5853112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609600" y="274638"/>
            <a:ext cx="8077200" cy="5853112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838091" y="6357824"/>
            <a:ext cx="2742843" cy="365210"/>
          </a:xfrm>
          <a:prstGeom prst="rect">
            <a:avLst/>
          </a:prstGeom>
        </p:spPr>
        <p:txBody>
          <a:bodyPr lIns="121917" tIns="60958" rIns="121917" bIns="60958"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038075" y="6357824"/>
            <a:ext cx="4114264" cy="365210"/>
          </a:xfrm>
          <a:prstGeom prst="rect">
            <a:avLst/>
          </a:prstGeom>
        </p:spPr>
        <p:txBody>
          <a:bodyPr lIns="121917" tIns="60958" rIns="121917" bIns="60958"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420635" y="1038467"/>
            <a:ext cx="11258672" cy="5116110"/>
          </a:xfrm>
        </p:spPr>
        <p:txBody>
          <a:bodyPr vert="horz" lIns="121917" tIns="60958" rIns="121917" bIns="60958"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marL="342900" lvl="0" indent="-342900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编辑母版文本样式</a:t>
            </a:r>
          </a:p>
          <a:p>
            <a:pPr marL="635000" lvl="1" indent="-286385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第二级</a:t>
            </a:r>
          </a:p>
          <a:p>
            <a:pPr lvl="2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第三级</a:t>
            </a:r>
          </a:p>
          <a:p>
            <a:pPr lvl="3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第四级</a:t>
            </a:r>
          </a:p>
          <a:p>
            <a:pPr lvl="4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标题和内容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838091" y="6357824"/>
            <a:ext cx="2742843" cy="365210"/>
          </a:xfrm>
          <a:prstGeom prst="rect">
            <a:avLst/>
          </a:prstGeom>
        </p:spPr>
        <p:txBody>
          <a:bodyPr lIns="121917" tIns="60958" rIns="121917" bIns="60958"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038075" y="6357824"/>
            <a:ext cx="4114264" cy="365210"/>
          </a:xfrm>
          <a:prstGeom prst="rect">
            <a:avLst/>
          </a:prstGeom>
        </p:spPr>
        <p:txBody>
          <a:bodyPr lIns="121917" tIns="60958" rIns="121917" bIns="60958"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11472467" y="6482701"/>
            <a:ext cx="665249" cy="365210"/>
          </a:xfrm>
        </p:spPr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7965" y="120030"/>
            <a:ext cx="9617797" cy="619691"/>
          </a:xfrm>
        </p:spPr>
        <p:txBody>
          <a:bodyPr/>
          <a:lstStyle>
            <a:lvl1pPr>
              <a:lnSpc>
                <a:spcPct val="100000"/>
              </a:lnSpc>
              <a:buNone/>
              <a:defRPr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8" name="图片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1926"/>
            <a:ext cx="12190413" cy="685573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1213" cy="452755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09600" y="6357938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65600" y="6357938"/>
            <a:ext cx="385921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11770839" y="6526138"/>
            <a:ext cx="51705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rgbClr val="000E4C"/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-7"/>
          <p:cNvSpPr>
            <a:spLocks noGrp="1"/>
          </p:cNvSpPr>
          <p:nvPr/>
        </p:nvSpPr>
        <p:spPr>
          <a:xfrm>
            <a:off x="514270" y="735139"/>
            <a:ext cx="8761631" cy="5142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0F172A"/>
                </a:solidFill>
              </a:defRPr>
            </a:pPr>
            <a:endParaRPr sz="24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page-7"/>
          <p:cNvSpPr>
            <a:spLocks noGrp="1"/>
          </p:cNvSpPr>
          <p:nvPr/>
        </p:nvSpPr>
        <p:spPr>
          <a:xfrm>
            <a:off x="11237744" y="420205"/>
            <a:ext cx="495223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2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240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exec-summary"/>
          <p:cNvSpPr>
            <a:spLocks noGrp="1"/>
          </p:cNvSpPr>
          <p:nvPr/>
        </p:nvSpPr>
        <p:spPr>
          <a:xfrm>
            <a:off x="514270" y="1177653"/>
            <a:ext cx="9904452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面向多组织协同训练：数据治理、节点接入、任务编排、模型聚合与审计闭环</a:t>
            </a:r>
            <a:endParaRPr sz="12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exec-top-band"/>
          <p:cNvSpPr>
            <a:spLocks noGrp="1"/>
          </p:cNvSpPr>
          <p:nvPr/>
        </p:nvSpPr>
        <p:spPr>
          <a:xfrm>
            <a:off x="552364" y="1467792"/>
            <a:ext cx="11085368" cy="1066633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ule"/>
          <p:cNvSpPr>
            <a:spLocks noGrp="1"/>
          </p:cNvSpPr>
          <p:nvPr/>
        </p:nvSpPr>
        <p:spPr>
          <a:xfrm>
            <a:off x="552364" y="1467792"/>
            <a:ext cx="11085368" cy="6666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" name="exec-top-title"/>
          <p:cNvSpPr>
            <a:spLocks noGrp="1"/>
          </p:cNvSpPr>
          <p:nvPr/>
        </p:nvSpPr>
        <p:spPr>
          <a:xfrm>
            <a:off x="799975" y="1753497"/>
            <a:ext cx="1714232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业务入口</a:t>
            </a:r>
            <a:endParaRPr sz="18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xec-top-sub"/>
          <p:cNvSpPr>
            <a:spLocks noGrp="1"/>
          </p:cNvSpPr>
          <p:nvPr/>
        </p:nvSpPr>
        <p:spPr>
          <a:xfrm>
            <a:off x="799975" y="2039202"/>
            <a:ext cx="1999937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统一 Console、开放 API、服务间 Token、运营看板</a:t>
            </a:r>
            <a:endParaRPr sz="90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xec-external-1"/>
          <p:cNvSpPr>
            <a:spLocks noGrp="1"/>
          </p:cNvSpPr>
          <p:nvPr/>
        </p:nvSpPr>
        <p:spPr>
          <a:xfrm>
            <a:off x="3359726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2563EB"/>
                </a:solidFill>
              </a:defRPr>
            </a:pPr>
            <a:r>
              <a:rPr sz="97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组织入驻</a:t>
            </a:r>
            <a:endParaRPr sz="97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xec-external-2"/>
          <p:cNvSpPr>
            <a:spLocks noGrp="1"/>
          </p:cNvSpPr>
          <p:nvPr/>
        </p:nvSpPr>
        <p:spPr>
          <a:xfrm>
            <a:off x="4944478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16A34A"/>
                </a:solidFill>
              </a:defRPr>
            </a:pPr>
            <a:r>
              <a:rPr sz="9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节点接入</a:t>
            </a:r>
            <a:endParaRPr sz="9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xec-external-3"/>
          <p:cNvSpPr>
            <a:spLocks noGrp="1"/>
          </p:cNvSpPr>
          <p:nvPr/>
        </p:nvSpPr>
        <p:spPr>
          <a:xfrm>
            <a:off x="6674010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0F766E"/>
                </a:solidFill>
              </a:defRPr>
            </a:pPr>
            <a:r>
              <a:rPr sz="97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数据治理</a:t>
            </a:r>
            <a:endParaRPr sz="97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xec-external-4"/>
          <p:cNvSpPr>
            <a:spLocks noGrp="1"/>
          </p:cNvSpPr>
          <p:nvPr/>
        </p:nvSpPr>
        <p:spPr>
          <a:xfrm>
            <a:off x="8366076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D97706"/>
                </a:solidFill>
              </a:defRPr>
            </a:pPr>
            <a:r>
              <a:rPr sz="97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训练任务</a:t>
            </a:r>
            <a:endParaRPr sz="97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xec-external-5"/>
          <p:cNvSpPr>
            <a:spLocks noGrp="1"/>
          </p:cNvSpPr>
          <p:nvPr/>
        </p:nvSpPr>
        <p:spPr>
          <a:xfrm>
            <a:off x="9914633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11D4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E11D48"/>
                </a:solidFill>
              </a:defRPr>
            </a:pPr>
            <a:r>
              <a:rPr sz="9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模型资产</a:t>
            </a:r>
            <a:endParaRPr sz="9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xec-middle-band"/>
          <p:cNvSpPr>
            <a:spLocks noGrp="1"/>
          </p:cNvSpPr>
          <p:nvPr/>
        </p:nvSpPr>
        <p:spPr>
          <a:xfrm>
            <a:off x="552364" y="2839177"/>
            <a:ext cx="11085368" cy="2380878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exec-middle-title"/>
          <p:cNvSpPr>
            <a:spLocks noGrp="1"/>
          </p:cNvSpPr>
          <p:nvPr/>
        </p:nvSpPr>
        <p:spPr>
          <a:xfrm>
            <a:off x="799975" y="3048695"/>
            <a:ext cx="1428527" cy="323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F172A"/>
                </a:solidFill>
              </a:defRPr>
            </a:pPr>
            <a:r>
              <a:rPr sz="2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业务协同层</a:t>
            </a:r>
            <a:endParaRPr sz="20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xec-middle-sub"/>
          <p:cNvSpPr>
            <a:spLocks noGrp="1"/>
          </p:cNvSpPr>
          <p:nvPr/>
        </p:nvSpPr>
        <p:spPr>
          <a:xfrm>
            <a:off x="799975" y="3391541"/>
            <a:ext cx="1999937" cy="380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90" b="0">
                <a:solidFill>
                  <a:srgbClr val="64748B"/>
                </a:solidFill>
              </a:defRPr>
            </a:pPr>
            <a:endParaRPr sz="109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xec-actor-frame"/>
          <p:cNvSpPr>
            <a:spLocks noGrp="1"/>
          </p:cNvSpPr>
          <p:nvPr/>
        </p:nvSpPr>
        <p:spPr>
          <a:xfrm>
            <a:off x="799975" y="3467094"/>
            <a:ext cx="2095173" cy="154344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954">
            <a:solidFill>
              <a:srgbClr val="0F766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exec-actor-title"/>
          <p:cNvSpPr>
            <a:spLocks noGrp="1"/>
          </p:cNvSpPr>
          <p:nvPr/>
        </p:nvSpPr>
        <p:spPr>
          <a:xfrm>
            <a:off x="990445" y="3573123"/>
            <a:ext cx="1142821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275" b="1">
                <a:solidFill>
                  <a:srgbClr val="0F766E"/>
                </a:solidFill>
              </a:defRPr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参与角色</a:t>
            </a:r>
            <a:endParaRPr sz="14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xec-actor-admin"/>
          <p:cNvSpPr>
            <a:spLocks noGrp="1"/>
          </p:cNvSpPr>
          <p:nvPr/>
        </p:nvSpPr>
        <p:spPr>
          <a:xfrm>
            <a:off x="982826" y="3943905"/>
            <a:ext cx="780928" cy="247611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20" b="1">
                <a:solidFill>
                  <a:srgbClr val="2563EB"/>
                </a:solidFill>
              </a:defRPr>
            </a:pPr>
            <a:r>
              <a:rPr sz="7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平台管理员</a:t>
            </a:r>
            <a:endParaRPr sz="7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xec-actor-participant"/>
          <p:cNvSpPr>
            <a:spLocks noGrp="1"/>
          </p:cNvSpPr>
          <p:nvPr/>
        </p:nvSpPr>
        <p:spPr>
          <a:xfrm>
            <a:off x="1919305" y="3943905"/>
            <a:ext cx="780928" cy="247611"/>
          </a:xfrm>
          <a:prstGeom prst="roundRect">
            <a:avLst>
              <a:gd name="adj" fmla="val 30769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20" b="1">
                <a:solidFill>
                  <a:srgbClr val="D97706"/>
                </a:solidFill>
              </a:defRPr>
            </a:pPr>
            <a:r>
              <a:rPr sz="7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组织参与方</a:t>
            </a:r>
            <a:endParaRPr sz="7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xec-actor-biz-0"/>
          <p:cNvSpPr>
            <a:spLocks noGrp="1"/>
          </p:cNvSpPr>
          <p:nvPr/>
        </p:nvSpPr>
        <p:spPr>
          <a:xfrm>
            <a:off x="940288" y="4305798"/>
            <a:ext cx="895210" cy="247611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6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联盟管理</a:t>
            </a:r>
            <a:endParaRPr sz="6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xec-actor-biz-1"/>
          <p:cNvSpPr>
            <a:spLocks noGrp="1"/>
          </p:cNvSpPr>
          <p:nvPr/>
        </p:nvSpPr>
        <p:spPr>
          <a:xfrm>
            <a:off x="1923749" y="4305798"/>
            <a:ext cx="876798" cy="257135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数据负责人</a:t>
            </a:r>
            <a:endParaRPr sz="7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xec-actor-biz-2"/>
          <p:cNvSpPr>
            <a:spLocks noGrp="1"/>
          </p:cNvSpPr>
          <p:nvPr/>
        </p:nvSpPr>
        <p:spPr>
          <a:xfrm>
            <a:off x="982838" y="4653089"/>
            <a:ext cx="894575" cy="266658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6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训练运营</a:t>
            </a:r>
            <a:endParaRPr sz="76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xec-actor-biz-3"/>
          <p:cNvSpPr>
            <a:spLocks noGrp="1"/>
          </p:cNvSpPr>
          <p:nvPr/>
        </p:nvSpPr>
        <p:spPr>
          <a:xfrm>
            <a:off x="1995504" y="4653089"/>
            <a:ext cx="837434" cy="266658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6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平台运维</a:t>
            </a:r>
            <a:endParaRPr sz="76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xec-platform-frame"/>
          <p:cNvSpPr>
            <a:spLocks noGrp="1"/>
          </p:cNvSpPr>
          <p:nvPr/>
        </p:nvSpPr>
        <p:spPr>
          <a:xfrm>
            <a:off x="3104665" y="3048695"/>
            <a:ext cx="5295073" cy="1961843"/>
          </a:xfrm>
          <a:prstGeom prst="roundRect">
            <a:avLst>
              <a:gd name="adj" fmla="val 3883"/>
            </a:avLst>
          </a:prstGeom>
          <a:solidFill>
            <a:srgbClr val="EFF6FF"/>
          </a:solidFill>
          <a:ln w="11906">
            <a:solidFill>
              <a:srgbClr val="2563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rule"/>
          <p:cNvSpPr>
            <a:spLocks noGrp="1"/>
          </p:cNvSpPr>
          <p:nvPr/>
        </p:nvSpPr>
        <p:spPr>
          <a:xfrm>
            <a:off x="3104665" y="3048695"/>
            <a:ext cx="5295073" cy="57141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8" name="exec-platform-title"/>
          <p:cNvSpPr>
            <a:spLocks noGrp="1"/>
          </p:cNvSpPr>
          <p:nvPr/>
        </p:nvSpPr>
        <p:spPr>
          <a:xfrm>
            <a:off x="3314182" y="3220118"/>
            <a:ext cx="2952289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Federation Learning Platform</a:t>
            </a:r>
            <a:endParaRPr sz="16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xec-platform-api"/>
          <p:cNvSpPr>
            <a:spLocks noGrp="1"/>
          </p:cNvSpPr>
          <p:nvPr/>
        </p:nvSpPr>
        <p:spPr>
          <a:xfrm>
            <a:off x="3314182" y="3643597"/>
            <a:ext cx="4818897" cy="26665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平台业务：组织/运行时治理、特征 Schema、训练配置、任务提交</a:t>
            </a:r>
            <a:endParaRPr sz="91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xec-platform-command"/>
          <p:cNvSpPr>
            <a:spLocks noGrp="1"/>
          </p:cNvSpPr>
          <p:nvPr/>
        </p:nvSpPr>
        <p:spPr>
          <a:xfrm>
            <a:off x="3314182" y="4115328"/>
            <a:ext cx="1485668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765" b="1">
                <a:solidFill>
                  <a:srgbClr val="16A34A"/>
                </a:solidFill>
              </a:defRPr>
            </a:pPr>
            <a:r>
              <a:rPr sz="8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参与方筛选</a:t>
            </a:r>
            <a:endParaRPr sz="8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765" b="1">
                <a:solidFill>
                  <a:srgbClr val="16A34A"/>
                </a:solidFill>
              </a:defRPr>
            </a:pPr>
            <a:r>
              <a:rPr sz="8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按联盟/Schema/节点匹配</a:t>
            </a:r>
            <a:endParaRPr sz="8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xec-platform-event"/>
          <p:cNvSpPr>
            <a:spLocks noGrp="1"/>
          </p:cNvSpPr>
          <p:nvPr/>
        </p:nvSpPr>
        <p:spPr>
          <a:xfrm>
            <a:off x="5009367" y="4115328"/>
            <a:ext cx="1485668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11D48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765" b="1">
                <a:solidFill>
                  <a:srgbClr val="E11D48"/>
                </a:solidFill>
              </a:defRPr>
            </a:pPr>
            <a:r>
              <a:rPr sz="8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训练编排</a:t>
            </a:r>
            <a:endParaRPr sz="8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765" b="1">
                <a:solidFill>
                  <a:srgbClr val="E11D48"/>
                </a:solidFill>
              </a:defRPr>
            </a:pPr>
            <a:r>
              <a:rPr sz="8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轮次、计划、状态推进</a:t>
            </a:r>
            <a:endParaRPr sz="8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xec-platform-automation"/>
          <p:cNvSpPr>
            <a:spLocks noGrp="1"/>
          </p:cNvSpPr>
          <p:nvPr/>
        </p:nvSpPr>
        <p:spPr>
          <a:xfrm>
            <a:off x="6704552" y="4115328"/>
            <a:ext cx="1428527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765" b="1">
                <a:solidFill>
                  <a:srgbClr val="6D28D9"/>
                </a:solidFill>
              </a:defRPr>
            </a:pPr>
            <a:r>
              <a:rPr sz="870" b="1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安全聚合</a:t>
            </a:r>
            <a:endParaRPr sz="870" b="1">
              <a:solidFill>
                <a:srgbClr val="6D28D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765" b="1">
                <a:solidFill>
                  <a:srgbClr val="6D28D9"/>
                </a:solidFill>
              </a:defRPr>
            </a:pPr>
            <a:r>
              <a:rPr sz="870" b="1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密钥上下文与更新收集</a:t>
            </a:r>
            <a:endParaRPr sz="870" b="1">
              <a:solidFill>
                <a:srgbClr val="6D28D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xec-platform-readmodel"/>
          <p:cNvSpPr>
            <a:spLocks noGrp="1"/>
          </p:cNvSpPr>
          <p:nvPr/>
        </p:nvSpPr>
        <p:spPr>
          <a:xfrm>
            <a:off x="3314182" y="4629597"/>
            <a:ext cx="2361831" cy="247611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全局模型：聚合产物登记、版本留痕、可追溯</a:t>
            </a:r>
            <a:endParaRPr sz="8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xec-platform-cqrs"/>
          <p:cNvSpPr>
            <a:spLocks noGrp="1"/>
          </p:cNvSpPr>
          <p:nvPr/>
        </p:nvSpPr>
        <p:spPr>
          <a:xfrm>
            <a:off x="5771248" y="4629597"/>
            <a:ext cx="2361831" cy="247611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查询视图：业务列表、仪表盘、动态筛选</a:t>
            </a:r>
            <a:endParaRPr sz="7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xec-agent-frame"/>
          <p:cNvSpPr>
            <a:spLocks noGrp="1"/>
          </p:cNvSpPr>
          <p:nvPr/>
        </p:nvSpPr>
        <p:spPr>
          <a:xfrm>
            <a:off x="8609255" y="3048695"/>
            <a:ext cx="1638044" cy="1961843"/>
          </a:xfrm>
          <a:prstGeom prst="roundRect">
            <a:avLst>
              <a:gd name="adj" fmla="val 4651"/>
            </a:avLst>
          </a:prstGeom>
          <a:solidFill>
            <a:srgbClr val="FFFBEB"/>
          </a:solidFill>
          <a:ln w="11906">
            <a:solidFill>
              <a:srgbClr val="D9770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7" name="rule"/>
          <p:cNvSpPr>
            <a:spLocks noGrp="1"/>
          </p:cNvSpPr>
          <p:nvPr/>
        </p:nvSpPr>
        <p:spPr>
          <a:xfrm>
            <a:off x="8609255" y="3048695"/>
            <a:ext cx="1638044" cy="57141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8" name="exec-agent-title"/>
          <p:cNvSpPr>
            <a:spLocks noGrp="1"/>
          </p:cNvSpPr>
          <p:nvPr/>
        </p:nvSpPr>
        <p:spPr>
          <a:xfrm>
            <a:off x="8780678" y="3220118"/>
            <a:ext cx="1295198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Runtime Agent</a:t>
            </a:r>
            <a:endParaRPr sz="14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xec-agent-0"/>
          <p:cNvSpPr>
            <a:spLocks noGrp="1"/>
          </p:cNvSpPr>
          <p:nvPr/>
        </p:nvSpPr>
        <p:spPr>
          <a:xfrm>
            <a:off x="8799725" y="3639152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本地节点注册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xec-agent-1"/>
          <p:cNvSpPr>
            <a:spLocks noGrp="1"/>
          </p:cNvSpPr>
          <p:nvPr/>
        </p:nvSpPr>
        <p:spPr>
          <a:xfrm>
            <a:off x="8799725" y="3934381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执行计划接收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xec-agent-2"/>
          <p:cNvSpPr>
            <a:spLocks noGrp="1"/>
          </p:cNvSpPr>
          <p:nvPr/>
        </p:nvSpPr>
        <p:spPr>
          <a:xfrm>
            <a:off x="8799725" y="4229610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数据集校验/画像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xec-agent-3"/>
          <p:cNvSpPr>
            <a:spLocks noGrp="1"/>
          </p:cNvSpPr>
          <p:nvPr/>
        </p:nvSpPr>
        <p:spPr>
          <a:xfrm>
            <a:off x="8799725" y="4524839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训练引擎调度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xec-agent-loop"/>
          <p:cNvSpPr>
            <a:spLocks noGrp="1"/>
          </p:cNvSpPr>
          <p:nvPr/>
        </p:nvSpPr>
        <p:spPr>
          <a:xfrm>
            <a:off x="8780678" y="4801021"/>
            <a:ext cx="1295198" cy="1714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训练结果回传</a:t>
            </a:r>
            <a:endParaRPr sz="7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xec-dependency-frame"/>
          <p:cNvSpPr>
            <a:spLocks noGrp="1"/>
          </p:cNvSpPr>
          <p:nvPr/>
        </p:nvSpPr>
        <p:spPr>
          <a:xfrm>
            <a:off x="10437769" y="3048695"/>
            <a:ext cx="895210" cy="1961843"/>
          </a:xfrm>
          <a:prstGeom prst="roundRect">
            <a:avLst>
              <a:gd name="adj" fmla="val 8511"/>
            </a:avLst>
          </a:prstGeom>
          <a:solidFill>
            <a:srgbClr val="FFFBEB"/>
          </a:solidFill>
          <a:ln w="10954">
            <a:solidFill>
              <a:srgbClr val="D9770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5" name="exec-dep-title"/>
          <p:cNvSpPr>
            <a:spLocks noGrp="1"/>
          </p:cNvSpPr>
          <p:nvPr/>
        </p:nvSpPr>
        <p:spPr>
          <a:xfrm>
            <a:off x="10552051" y="3220118"/>
            <a:ext cx="666646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支撑服务</a:t>
            </a:r>
            <a:endParaRPr sz="12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xec-dep-0"/>
          <p:cNvSpPr>
            <a:spLocks noGrp="1"/>
          </p:cNvSpPr>
          <p:nvPr/>
        </p:nvSpPr>
        <p:spPr>
          <a:xfrm>
            <a:off x="10571098" y="3601058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账号权限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exec-dep-1"/>
          <p:cNvSpPr>
            <a:spLocks noGrp="1"/>
          </p:cNvSpPr>
          <p:nvPr/>
        </p:nvSpPr>
        <p:spPr>
          <a:xfrm>
            <a:off x="10571098" y="3867717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文件暂存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exec-dep-2"/>
          <p:cNvSpPr>
            <a:spLocks noGrp="1"/>
          </p:cNvSpPr>
          <p:nvPr/>
        </p:nvSpPr>
        <p:spPr>
          <a:xfrm>
            <a:off x="10571098" y="4134375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模型仓库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exec-dep-3"/>
          <p:cNvSpPr>
            <a:spLocks noGrp="1"/>
          </p:cNvSpPr>
          <p:nvPr/>
        </p:nvSpPr>
        <p:spPr>
          <a:xfrm>
            <a:off x="10571098" y="4401033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字典配置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exec-dep-4"/>
          <p:cNvSpPr>
            <a:spLocks noGrp="1"/>
          </p:cNvSpPr>
          <p:nvPr/>
        </p:nvSpPr>
        <p:spPr>
          <a:xfrm>
            <a:off x="10571098" y="4667692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exec-arrow-actor-platform"/>
          <p:cNvSpPr>
            <a:spLocks noGrp="1"/>
          </p:cNvSpPr>
          <p:nvPr/>
        </p:nvSpPr>
        <p:spPr>
          <a:xfrm>
            <a:off x="2895148" y="4334369"/>
            <a:ext cx="209517" cy="171423"/>
          </a:xfrm>
          <a:prstGeom prst="right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2" name="exec-arrow-platform-agent"/>
          <p:cNvSpPr>
            <a:spLocks noGrp="1"/>
          </p:cNvSpPr>
          <p:nvPr/>
        </p:nvSpPr>
        <p:spPr>
          <a:xfrm>
            <a:off x="8399737" y="3943905"/>
            <a:ext cx="228564" cy="171423"/>
          </a:xfrm>
          <a:prstGeom prst="right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3" name="exec-arrow-agent-platform"/>
          <p:cNvSpPr>
            <a:spLocks noGrp="1"/>
          </p:cNvSpPr>
          <p:nvPr/>
        </p:nvSpPr>
        <p:spPr>
          <a:xfrm>
            <a:off x="8399737" y="4572456"/>
            <a:ext cx="228564" cy="171423"/>
          </a:xfrm>
          <a:prstGeom prst="leftArrow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4" name="exec-task-label"/>
          <p:cNvSpPr>
            <a:spLocks noGrp="1"/>
          </p:cNvSpPr>
          <p:nvPr/>
        </p:nvSpPr>
        <p:spPr>
          <a:xfrm>
            <a:off x="8361643" y="3715340"/>
            <a:ext cx="285705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640" b="1">
                <a:solidFill>
                  <a:srgbClr val="D97706"/>
                </a:solidFill>
              </a:defRPr>
            </a:pPr>
            <a:r>
              <a:rPr sz="74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计划</a:t>
            </a:r>
            <a:endParaRPr sz="74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640" b="1">
                <a:solidFill>
                  <a:srgbClr val="D97706"/>
                </a:solidFill>
              </a:defRPr>
            </a:pPr>
            <a:r>
              <a:rPr sz="74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下发</a:t>
            </a:r>
            <a:endParaRPr sz="74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exec-feedback-label"/>
          <p:cNvSpPr>
            <a:spLocks noGrp="1"/>
          </p:cNvSpPr>
          <p:nvPr/>
        </p:nvSpPr>
        <p:spPr>
          <a:xfrm>
            <a:off x="8361643" y="4743880"/>
            <a:ext cx="285705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640" b="1">
                <a:solidFill>
                  <a:srgbClr val="E11D48"/>
                </a:solidFill>
              </a:defRPr>
            </a:pPr>
            <a:r>
              <a:rPr sz="74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指标</a:t>
            </a:r>
            <a:endParaRPr sz="74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640" b="1">
                <a:solidFill>
                  <a:srgbClr val="E11D48"/>
                </a:solidFill>
              </a:defRPr>
            </a:pPr>
            <a:r>
              <a:rPr sz="74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更新</a:t>
            </a:r>
            <a:endParaRPr sz="74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exec-arrow-platform-up"/>
          <p:cNvSpPr>
            <a:spLocks noGrp="1"/>
          </p:cNvSpPr>
          <p:nvPr/>
        </p:nvSpPr>
        <p:spPr>
          <a:xfrm>
            <a:off x="5695060" y="2534425"/>
            <a:ext cx="323799" cy="323799"/>
          </a:xfrm>
          <a:prstGeom prst="up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7" name="exec-arrow-agent-up"/>
          <p:cNvSpPr>
            <a:spLocks noGrp="1"/>
          </p:cNvSpPr>
          <p:nvPr/>
        </p:nvSpPr>
        <p:spPr>
          <a:xfrm>
            <a:off x="9256853" y="2534425"/>
            <a:ext cx="323799" cy="323799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8" name="exec-arrow-dep-up"/>
          <p:cNvSpPr>
            <a:spLocks noGrp="1"/>
          </p:cNvSpPr>
          <p:nvPr/>
        </p:nvSpPr>
        <p:spPr>
          <a:xfrm>
            <a:off x="10723474" y="2534425"/>
            <a:ext cx="323799" cy="323799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9" name="exec-output-label"/>
          <p:cNvSpPr>
            <a:spLocks noGrp="1"/>
          </p:cNvSpPr>
          <p:nvPr/>
        </p:nvSpPr>
        <p:spPr>
          <a:xfrm>
            <a:off x="7047399" y="2324908"/>
            <a:ext cx="1523762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业务能力统一输出</a:t>
            </a:r>
            <a:endParaRPr sz="12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exec-infra-band"/>
          <p:cNvSpPr>
            <a:spLocks noGrp="1"/>
          </p:cNvSpPr>
          <p:nvPr/>
        </p:nvSpPr>
        <p:spPr>
          <a:xfrm>
            <a:off x="552364" y="5467667"/>
            <a:ext cx="11085368" cy="78092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exec-infra-title"/>
          <p:cNvSpPr>
            <a:spLocks noGrp="1"/>
          </p:cNvSpPr>
          <p:nvPr/>
        </p:nvSpPr>
        <p:spPr>
          <a:xfrm>
            <a:off x="799975" y="5734325"/>
            <a:ext cx="1676138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部署与运行能力</a:t>
            </a:r>
            <a:endParaRPr sz="18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exec-infra-0"/>
          <p:cNvSpPr>
            <a:spLocks noGrp="1"/>
          </p:cNvSpPr>
          <p:nvPr/>
        </p:nvSpPr>
        <p:spPr>
          <a:xfrm>
            <a:off x="262848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95" b="1">
                <a:solidFill>
                  <a:srgbClr val="2563EB"/>
                </a:solidFill>
              </a:defRPr>
            </a:pPr>
            <a:r>
              <a:rPr lang="en-US" sz="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Docker </a:t>
            </a:r>
            <a:r>
              <a:rPr sz="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Compose</a:t>
            </a:r>
            <a:endParaRPr sz="6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exec-infra-1"/>
          <p:cNvSpPr>
            <a:spLocks noGrp="1"/>
          </p:cNvSpPr>
          <p:nvPr/>
        </p:nvSpPr>
        <p:spPr>
          <a:xfrm>
            <a:off x="3580840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K3s/K8s</a:t>
            </a:r>
            <a:endParaRPr sz="9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exec-infra-2"/>
          <p:cNvSpPr>
            <a:spLocks noGrp="1"/>
          </p:cNvSpPr>
          <p:nvPr/>
        </p:nvSpPr>
        <p:spPr>
          <a:xfrm>
            <a:off x="4533265" y="5695950"/>
            <a:ext cx="894715" cy="323850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795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PostgreSQL</a:t>
            </a:r>
            <a:endParaRPr sz="9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exec-infra-3"/>
          <p:cNvSpPr>
            <a:spLocks noGrp="1"/>
          </p:cNvSpPr>
          <p:nvPr/>
        </p:nvSpPr>
        <p:spPr>
          <a:xfrm>
            <a:off x="5557298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E11D4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95" b="1">
                <a:solidFill>
                  <a:srgbClr val="E11D48"/>
                </a:solidFill>
              </a:defRPr>
            </a:pPr>
            <a:r>
              <a:rPr sz="60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UmaDB</a:t>
            </a:r>
            <a:endParaRPr sz="60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exec-infra-4"/>
          <p:cNvSpPr>
            <a:spLocks noGrp="1"/>
          </p:cNvSpPr>
          <p:nvPr/>
        </p:nvSpPr>
        <p:spPr>
          <a:xfrm>
            <a:off x="6566790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 fontScale="71354"/>
          </a:bodyPr>
          <a:lstStyle/>
          <a:p>
            <a:pPr algn="ctr">
              <a:buNone/>
              <a:defRPr sz="795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Runtime Engine</a:t>
            </a:r>
            <a:endParaRPr sz="9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exec-infra-6"/>
          <p:cNvSpPr>
            <a:spLocks noGrp="1"/>
          </p:cNvSpPr>
          <p:nvPr/>
        </p:nvSpPr>
        <p:spPr>
          <a:xfrm>
            <a:off x="7561668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对象存储</a:t>
            </a:r>
            <a:endParaRPr sz="9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exec-infra-7"/>
          <p:cNvSpPr>
            <a:spLocks noGrp="1"/>
          </p:cNvSpPr>
          <p:nvPr/>
        </p:nvSpPr>
        <p:spPr>
          <a:xfrm>
            <a:off x="864734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镜像脚本</a:t>
            </a:r>
            <a:endParaRPr sz="9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exec-infra-8"/>
          <p:cNvSpPr>
            <a:spLocks noGrp="1"/>
          </p:cNvSpPr>
          <p:nvPr/>
        </p:nvSpPr>
        <p:spPr>
          <a:xfrm>
            <a:off x="973302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日志遥测</a:t>
            </a:r>
            <a:endParaRPr sz="9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exec-arrow-infra-platform"/>
          <p:cNvSpPr>
            <a:spLocks noGrp="1"/>
          </p:cNvSpPr>
          <p:nvPr/>
        </p:nvSpPr>
        <p:spPr>
          <a:xfrm>
            <a:off x="5542684" y="5220055"/>
            <a:ext cx="323799" cy="247611"/>
          </a:xfrm>
          <a:prstGeom prst="up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2" name="exec-arrow-infra-agent"/>
          <p:cNvSpPr>
            <a:spLocks noGrp="1"/>
          </p:cNvSpPr>
          <p:nvPr/>
        </p:nvSpPr>
        <p:spPr>
          <a:xfrm>
            <a:off x="9275900" y="5220055"/>
            <a:ext cx="323799" cy="247611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73" name="exec-arrow-infra-dep"/>
          <p:cNvSpPr>
            <a:spLocks noGrp="1"/>
          </p:cNvSpPr>
          <p:nvPr/>
        </p:nvSpPr>
        <p:spPr>
          <a:xfrm>
            <a:off x="10723474" y="5220055"/>
            <a:ext cx="323799" cy="247611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74" name="rule"/>
          <p:cNvSpPr>
            <a:spLocks noGrp="1"/>
          </p:cNvSpPr>
          <p:nvPr/>
        </p:nvSpPr>
        <p:spPr>
          <a:xfrm>
            <a:off x="514270" y="6286689"/>
            <a:ext cx="11161556" cy="9524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29" name="TextBox 6"/>
          <p:cNvSpPr>
            <a:spLocks noGrp="1"/>
          </p:cNvSpPr>
          <p:nvPr/>
        </p:nvSpPr>
        <p:spPr>
          <a:xfrm>
            <a:off x="406400" y="117475"/>
            <a:ext cx="11326495" cy="512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1.2.3 事件驱动的联邦学习平台业务能力架构</a:t>
            </a:r>
            <a:endParaRPr b="1" i="0" u="none" spc="150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WPS 演示</Application>
  <PresentationFormat>Converted Presentation</PresentationFormat>
  <Paragraphs>103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Wingdings 3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1_自定义设计方案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WPS_1695173164</cp:lastModifiedBy>
  <cp:revision>1</cp:revision>
  <dcterms:created xsi:type="dcterms:W3CDTF">2026-08-31T10:26:22Z</dcterms:created>
  <dcterms:modified xsi:type="dcterms:W3CDTF">2026-08-31T10:26:22Z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70784A5F6700DED3CE56956ACE15AD12_42</vt:lpwstr>
  </property>
  <property fmtid="{D5CDD505-2E9C-101B-9397-08002B2CF9AE}" pid="3" name="KSOProductBuildVer">
    <vt:lpwstr>2052-6.7.1.8828</vt:lpwstr>
  </property>
</Properties>
</file>