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0095" cy="685927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1613" cy="147161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7788"/>
            <a:ext cx="853281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8488"/>
            <a:ext cx="10361612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1612" cy="15017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5408613" cy="4527550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0613" y="1600200"/>
            <a:ext cx="5410200" cy="4527550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9600" y="2174875"/>
            <a:ext cx="5386388" cy="39528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92838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92838" y="2174875"/>
            <a:ext cx="5387975" cy="395287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0025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675" y="273050"/>
            <a:ext cx="6815138" cy="5854700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09600" y="1435100"/>
            <a:ext cx="4010025" cy="4692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2188"/>
            <a:ext cx="7315200" cy="566737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63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2389188" y="5368925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839200" y="274638"/>
            <a:ext cx="2741613" cy="5853112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609600" y="274638"/>
            <a:ext cx="8077200" cy="5853112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838091" y="6357824"/>
            <a:ext cx="2742843" cy="365210"/>
          </a:xfrm>
          <a:prstGeom prst="rect">
            <a:avLst/>
          </a:prstGeom>
        </p:spPr>
        <p:txBody>
          <a:bodyPr lIns="121917" tIns="60958" rIns="121917" bIns="60958"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038075" y="6357824"/>
            <a:ext cx="4114264" cy="365210"/>
          </a:xfrm>
          <a:prstGeom prst="rect">
            <a:avLst/>
          </a:prstGeom>
        </p:spPr>
        <p:txBody>
          <a:bodyPr lIns="121917" tIns="60958" rIns="121917" bIns="60958"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420635" y="1038467"/>
            <a:ext cx="11258672" cy="5116110"/>
          </a:xfrm>
        </p:spPr>
        <p:txBody>
          <a:bodyPr vert="horz" lIns="121917" tIns="60958" rIns="121917" bIns="60958"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marL="342900" lvl="0" indent="-342900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编辑母版文本样式</a:t>
            </a:r>
          </a:p>
          <a:p>
            <a:pPr marL="635000" lvl="1" indent="-286385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第二级</a:t>
            </a:r>
          </a:p>
          <a:p>
            <a:pPr lvl="2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第三级</a:t>
            </a:r>
          </a:p>
          <a:p>
            <a:pPr lvl="3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第四级</a:t>
            </a:r>
          </a:p>
          <a:p>
            <a:pPr lvl="4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/>
              <a:buChar char=""/>
            </a:pPr>
            <a:r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标题和内容"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xfrm>
            <a:off x="838091" y="6357824"/>
            <a:ext cx="2742843" cy="365210"/>
          </a:xfrm>
          <a:prstGeom prst="rect">
            <a:avLst/>
          </a:prstGeom>
        </p:spPr>
        <p:txBody>
          <a:bodyPr lIns="121917" tIns="60958" rIns="121917" bIns="60958"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xfrm>
            <a:off x="4038075" y="6357824"/>
            <a:ext cx="4114264" cy="365210"/>
          </a:xfrm>
          <a:prstGeom prst="rect">
            <a:avLst/>
          </a:prstGeom>
        </p:spPr>
        <p:txBody>
          <a:bodyPr lIns="121917" tIns="60958" rIns="121917" bIns="60958"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11472467" y="6482701"/>
            <a:ext cx="665249" cy="365210"/>
          </a:xfrm>
        </p:spPr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7965" y="120030"/>
            <a:ext cx="9617797" cy="619691"/>
          </a:xfrm>
        </p:spPr>
        <p:txBody>
          <a:bodyPr/>
          <a:lstStyle>
            <a:lvl1pPr>
              <a:lnSpc>
                <a:spcPct val="100000"/>
              </a:lnSpc>
              <a:buNone/>
              <a:defRPr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8" name="图片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1926"/>
            <a:ext cx="12190413" cy="6855736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1213" cy="452755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09600" y="6357938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65600" y="6357938"/>
            <a:ext cx="385921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11770839" y="6526138"/>
            <a:ext cx="51705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rgbClr val="000E4C"/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-7"/>
          <p:cNvSpPr>
            <a:spLocks noGrp="1"/>
          </p:cNvSpPr>
          <p:nvPr/>
        </p:nvSpPr>
        <p:spPr>
          <a:xfrm>
            <a:off x="514270" y="735139"/>
            <a:ext cx="8761631" cy="5142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0F172A"/>
                </a:solidFill>
              </a:defRPr>
            </a:pPr>
            <a:endParaRPr sz="24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page-7"/>
          <p:cNvSpPr>
            <a:spLocks noGrp="1"/>
          </p:cNvSpPr>
          <p:nvPr/>
        </p:nvSpPr>
        <p:spPr>
          <a:xfrm>
            <a:off x="11237744" y="420205"/>
            <a:ext cx="495223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24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2400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exec-summary"/>
          <p:cNvSpPr>
            <a:spLocks noGrp="1"/>
          </p:cNvSpPr>
          <p:nvPr/>
        </p:nvSpPr>
        <p:spPr>
          <a:xfrm>
            <a:off x="514270" y="1177653"/>
            <a:ext cx="9904452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 建模驱动 / 3 个后端部署 / 1 套前端 / 生成代码与手写扩展分层</a:t>
            </a:r>
            <a:endParaRPr sz="12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exec-top-band"/>
          <p:cNvSpPr>
            <a:spLocks noGrp="1"/>
          </p:cNvSpPr>
          <p:nvPr/>
        </p:nvSpPr>
        <p:spPr>
          <a:xfrm>
            <a:off x="552364" y="1467792"/>
            <a:ext cx="11085368" cy="1066633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ule"/>
          <p:cNvSpPr>
            <a:spLocks noGrp="1"/>
          </p:cNvSpPr>
          <p:nvPr/>
        </p:nvSpPr>
        <p:spPr>
          <a:xfrm>
            <a:off x="552364" y="1467792"/>
            <a:ext cx="11085368" cy="6666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" name="exec-top-title"/>
          <p:cNvSpPr>
            <a:spLocks noGrp="1"/>
          </p:cNvSpPr>
          <p:nvPr/>
        </p:nvSpPr>
        <p:spPr>
          <a:xfrm>
            <a:off x="799975" y="1753497"/>
            <a:ext cx="1714232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系统入</a:t>
            </a:r>
            <a:r>
              <a:rPr sz="18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口</a:t>
            </a:r>
            <a:endParaRPr sz="18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exec-top-sub"/>
          <p:cNvSpPr>
            <a:spLocks noGrp="1"/>
          </p:cNvSpPr>
          <p:nvPr/>
        </p:nvSpPr>
        <p:spPr>
          <a:xfrm>
            <a:off x="799975" y="2039202"/>
            <a:ext cx="1999937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5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统一 Console、开放 API、认证授权、治理看板</a:t>
            </a:r>
            <a:endParaRPr sz="900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xec-external-1"/>
          <p:cNvSpPr>
            <a:spLocks noGrp="1"/>
          </p:cNvSpPr>
          <p:nvPr/>
        </p:nvSpPr>
        <p:spPr>
          <a:xfrm>
            <a:off x="3574991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2563EB"/>
                </a:solidFill>
              </a:defRPr>
            </a:pPr>
            <a:r>
              <a:rPr sz="97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开放 API</a:t>
            </a:r>
            <a:endParaRPr sz="97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xec-external-2"/>
          <p:cNvSpPr>
            <a:spLocks noGrp="1"/>
          </p:cNvSpPr>
          <p:nvPr/>
        </p:nvSpPr>
        <p:spPr>
          <a:xfrm>
            <a:off x="5303253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16A34A"/>
                </a:solidFill>
              </a:defRPr>
            </a:pPr>
            <a:r>
              <a:rPr sz="97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训练运营</a:t>
            </a:r>
            <a:endParaRPr sz="97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xec-external-3"/>
          <p:cNvSpPr>
            <a:spLocks noGrp="1"/>
          </p:cNvSpPr>
          <p:nvPr/>
        </p:nvSpPr>
        <p:spPr>
          <a:xfrm>
            <a:off x="7104540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0F766E"/>
                </a:solidFill>
              </a:defRPr>
            </a:pPr>
            <a:r>
              <a:rPr sz="97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组织协作</a:t>
            </a:r>
            <a:endParaRPr sz="97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xec-external-4"/>
          <p:cNvSpPr>
            <a:spLocks noGrp="1"/>
          </p:cNvSpPr>
          <p:nvPr/>
        </p:nvSpPr>
        <p:spPr>
          <a:xfrm>
            <a:off x="8437831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D97706"/>
                </a:solidFill>
              </a:defRPr>
            </a:pPr>
            <a:r>
              <a:rPr sz="97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运行监控</a:t>
            </a:r>
            <a:endParaRPr sz="97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xec-external-5"/>
          <p:cNvSpPr>
            <a:spLocks noGrp="1"/>
          </p:cNvSpPr>
          <p:nvPr/>
        </p:nvSpPr>
        <p:spPr>
          <a:xfrm>
            <a:off x="9771123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11D4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865" b="1">
                <a:solidFill>
                  <a:srgbClr val="E11D48"/>
                </a:solidFill>
              </a:defRPr>
            </a:pPr>
            <a:r>
              <a:rPr sz="97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审计治理</a:t>
            </a:r>
            <a:endParaRPr sz="97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xec-middle-band"/>
          <p:cNvSpPr>
            <a:spLocks noGrp="1"/>
          </p:cNvSpPr>
          <p:nvPr/>
        </p:nvSpPr>
        <p:spPr>
          <a:xfrm>
            <a:off x="552364" y="2839177"/>
            <a:ext cx="11085368" cy="2380878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exec-middle-title"/>
          <p:cNvSpPr>
            <a:spLocks noGrp="1"/>
          </p:cNvSpPr>
          <p:nvPr/>
        </p:nvSpPr>
        <p:spPr>
          <a:xfrm>
            <a:off x="799975" y="3048695"/>
            <a:ext cx="1428527" cy="323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0F172A"/>
                </a:solidFill>
              </a:defRPr>
            </a:pPr>
            <a:r>
              <a:rPr sz="2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核心协同层</a:t>
            </a:r>
            <a:endParaRPr sz="20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exec-middle-sub"/>
          <p:cNvSpPr>
            <a:spLocks noGrp="1"/>
          </p:cNvSpPr>
          <p:nvPr/>
        </p:nvSpPr>
        <p:spPr>
          <a:xfrm>
            <a:off x="799975" y="3391541"/>
            <a:ext cx="1999937" cy="380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90" b="0">
                <a:solidFill>
                  <a:srgbClr val="64748B"/>
                </a:solidFill>
              </a:defRPr>
            </a:pPr>
            <a:endParaRPr sz="1090" b="0">
              <a:solidFill>
                <a:srgbClr val="64748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exec-actor-frame"/>
          <p:cNvSpPr>
            <a:spLocks noGrp="1"/>
          </p:cNvSpPr>
          <p:nvPr/>
        </p:nvSpPr>
        <p:spPr>
          <a:xfrm>
            <a:off x="799975" y="3467094"/>
            <a:ext cx="2095173" cy="154344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954">
            <a:solidFill>
              <a:srgbClr val="0F766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exec-actor-title"/>
          <p:cNvSpPr>
            <a:spLocks noGrp="1"/>
          </p:cNvSpPr>
          <p:nvPr/>
        </p:nvSpPr>
        <p:spPr>
          <a:xfrm>
            <a:off x="990445" y="3573123"/>
            <a:ext cx="1142821" cy="20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275" b="1">
                <a:solidFill>
                  <a:srgbClr val="0F766E"/>
                </a:solidFill>
              </a:defRPr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用户与节点</a:t>
            </a:r>
            <a:endParaRPr sz="14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exec-actor-admin"/>
          <p:cNvSpPr>
            <a:spLocks noGrp="1"/>
          </p:cNvSpPr>
          <p:nvPr/>
        </p:nvSpPr>
        <p:spPr>
          <a:xfrm>
            <a:off x="982826" y="3943905"/>
            <a:ext cx="780928" cy="247611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20" b="1">
                <a:solidFill>
                  <a:srgbClr val="2563EB"/>
                </a:solidFill>
              </a:defRPr>
            </a:pPr>
            <a:r>
              <a:rPr sz="7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平台管理员</a:t>
            </a:r>
            <a:endParaRPr sz="7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exec-actor-participant"/>
          <p:cNvSpPr>
            <a:spLocks noGrp="1"/>
          </p:cNvSpPr>
          <p:nvPr/>
        </p:nvSpPr>
        <p:spPr>
          <a:xfrm>
            <a:off x="1919305" y="3943905"/>
            <a:ext cx="780928" cy="247611"/>
          </a:xfrm>
          <a:prstGeom prst="roundRect">
            <a:avLst>
              <a:gd name="adj" fmla="val 30769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20" b="1">
                <a:solidFill>
                  <a:srgbClr val="D97706"/>
                </a:solidFill>
              </a:defRPr>
            </a:pPr>
            <a:r>
              <a:rPr sz="7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组织参与方</a:t>
            </a:r>
            <a:endParaRPr sz="7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exec-actor-biz-0"/>
          <p:cNvSpPr>
            <a:spLocks noGrp="1"/>
          </p:cNvSpPr>
          <p:nvPr/>
        </p:nvSpPr>
        <p:spPr>
          <a:xfrm>
            <a:off x="940288" y="4305798"/>
            <a:ext cx="895210" cy="247611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6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组织/联盟</a:t>
            </a:r>
            <a:endParaRPr sz="6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exec-actor-biz-1"/>
          <p:cNvSpPr>
            <a:spLocks noGrp="1"/>
          </p:cNvSpPr>
          <p:nvPr/>
        </p:nvSpPr>
        <p:spPr>
          <a:xfrm>
            <a:off x="1923749" y="4305798"/>
            <a:ext cx="876798" cy="257135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7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数据/模型</a:t>
            </a:r>
            <a:endParaRPr sz="7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exec-actor-biz-2"/>
          <p:cNvSpPr>
            <a:spLocks noGrp="1"/>
          </p:cNvSpPr>
          <p:nvPr/>
        </p:nvSpPr>
        <p:spPr>
          <a:xfrm>
            <a:off x="911083" y="4653089"/>
            <a:ext cx="894575" cy="266658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76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训练/聚合</a:t>
            </a:r>
            <a:endParaRPr sz="76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exec-actor-biz-3"/>
          <p:cNvSpPr>
            <a:spLocks noGrp="1"/>
          </p:cNvSpPr>
          <p:nvPr/>
        </p:nvSpPr>
        <p:spPr>
          <a:xfrm>
            <a:off x="1923749" y="4653089"/>
            <a:ext cx="837434" cy="266658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660" b="1">
                <a:solidFill>
                  <a:srgbClr val="0F766E"/>
                </a:solidFill>
              </a:defRPr>
            </a:pPr>
            <a:r>
              <a:rPr sz="76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运行/监控</a:t>
            </a:r>
            <a:endParaRPr sz="76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exec-platform-frame"/>
          <p:cNvSpPr>
            <a:spLocks noGrp="1"/>
          </p:cNvSpPr>
          <p:nvPr/>
        </p:nvSpPr>
        <p:spPr>
          <a:xfrm>
            <a:off x="3104665" y="3048695"/>
            <a:ext cx="5295073" cy="1961843"/>
          </a:xfrm>
          <a:prstGeom prst="roundRect">
            <a:avLst>
              <a:gd name="adj" fmla="val 3883"/>
            </a:avLst>
          </a:prstGeom>
          <a:solidFill>
            <a:srgbClr val="EFF6FF"/>
          </a:solidFill>
          <a:ln w="11906">
            <a:solidFill>
              <a:srgbClr val="2563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7" name="rule"/>
          <p:cNvSpPr>
            <a:spLocks noGrp="1"/>
          </p:cNvSpPr>
          <p:nvPr/>
        </p:nvSpPr>
        <p:spPr>
          <a:xfrm>
            <a:off x="3104665" y="3048695"/>
            <a:ext cx="5295073" cy="57141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8" name="exec-platform-title"/>
          <p:cNvSpPr>
            <a:spLocks noGrp="1"/>
          </p:cNvSpPr>
          <p:nvPr/>
        </p:nvSpPr>
        <p:spPr>
          <a:xfrm>
            <a:off x="3314182" y="3220118"/>
            <a:ext cx="2952289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Federation Learning Platform</a:t>
            </a:r>
            <a:endParaRPr sz="16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exec-platform-api"/>
          <p:cNvSpPr>
            <a:spLocks noGrp="1"/>
          </p:cNvSpPr>
          <p:nvPr/>
        </p:nvSpPr>
        <p:spPr>
          <a:xfrm>
            <a:off x="3314182" y="3643597"/>
            <a:ext cx="4818897" cy="26665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810" b="1">
                <a:solidFill>
                  <a:srgbClr val="2563EB"/>
                </a:solidFill>
              </a:defRPr>
            </a:pPr>
            <a:r>
              <a:rPr sz="91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API / 应用服务层：接收命令、鉴权校验、编排用例</a:t>
            </a:r>
            <a:endParaRPr sz="91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exec-platform-command"/>
          <p:cNvSpPr>
            <a:spLocks noGrp="1"/>
          </p:cNvSpPr>
          <p:nvPr/>
        </p:nvSpPr>
        <p:spPr>
          <a:xfrm>
            <a:off x="3314182" y="4115328"/>
            <a:ext cx="1485668" cy="399987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765" b="1">
                <a:solidFill>
                  <a:srgbClr val="16A34A"/>
                </a:solidFill>
              </a:defRPr>
            </a:pPr>
            <a:r>
              <a:rPr sz="87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命令与领域模型</a:t>
            </a:r>
            <a:endParaRPr sz="87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765" b="1">
                <a:solidFill>
                  <a:srgbClr val="16A34A"/>
                </a:solidFill>
              </a:defRPr>
            </a:pPr>
            <a:r>
              <a:rPr sz="87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MEDOL 表达业务规则</a:t>
            </a:r>
            <a:endParaRPr sz="87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exec-platform-event"/>
          <p:cNvSpPr>
            <a:spLocks noGrp="1"/>
          </p:cNvSpPr>
          <p:nvPr/>
        </p:nvSpPr>
        <p:spPr>
          <a:xfrm>
            <a:off x="5009367" y="4115328"/>
            <a:ext cx="1485668" cy="399987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11D48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765" b="1">
                <a:solidFill>
                  <a:srgbClr val="E11D48"/>
                </a:solidFill>
              </a:defRPr>
            </a:pPr>
            <a:r>
              <a:rPr sz="87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事件流</a:t>
            </a:r>
            <a:endParaRPr sz="87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765" b="1">
                <a:solidFill>
                  <a:srgbClr val="E11D48"/>
                </a:solidFill>
              </a:defRPr>
            </a:pPr>
            <a:r>
              <a:rPr sz="87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驱动投影与自动化</a:t>
            </a:r>
            <a:endParaRPr sz="87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exec-platform-automation"/>
          <p:cNvSpPr>
            <a:spLocks noGrp="1"/>
          </p:cNvSpPr>
          <p:nvPr/>
        </p:nvSpPr>
        <p:spPr>
          <a:xfrm>
            <a:off x="6704552" y="4115328"/>
            <a:ext cx="1428527" cy="399987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765" b="1">
                <a:solidFill>
                  <a:srgbClr val="6D28D9"/>
                </a:solidFill>
              </a:defRPr>
            </a:pPr>
            <a:r>
              <a:rPr sz="870" b="1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自动化处理器</a:t>
            </a:r>
            <a:endParaRPr sz="870" b="1">
              <a:solidFill>
                <a:srgbClr val="6D28D9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765" b="1">
                <a:solidFill>
                  <a:srgbClr val="6D28D9"/>
                </a:solidFill>
              </a:defRPr>
            </a:pPr>
            <a:r>
              <a:rPr sz="870" b="1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跨上下文异步协同</a:t>
            </a:r>
            <a:endParaRPr sz="870" b="1">
              <a:solidFill>
                <a:srgbClr val="6D28D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exec-platform-readmodel"/>
          <p:cNvSpPr>
            <a:spLocks noGrp="1"/>
          </p:cNvSpPr>
          <p:nvPr/>
        </p:nvSpPr>
        <p:spPr>
          <a:xfrm>
            <a:off x="3314182" y="4629597"/>
            <a:ext cx="2361831" cy="247611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35" b="1">
                <a:solidFill>
                  <a:srgbClr val="0F766E"/>
                </a:solidFill>
              </a:defRPr>
            </a:pPr>
            <a:r>
              <a:rPr sz="8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读模型 / 查询视图：看板、监控、治理查询</a:t>
            </a:r>
            <a:endParaRPr sz="8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exec-platform-cqrs"/>
          <p:cNvSpPr>
            <a:spLocks noGrp="1"/>
          </p:cNvSpPr>
          <p:nvPr/>
        </p:nvSpPr>
        <p:spPr>
          <a:xfrm>
            <a:off x="5771248" y="4629597"/>
            <a:ext cx="2361831" cy="247611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15" b="1">
                <a:solidFill>
                  <a:srgbClr val="16A34A"/>
                </a:solidFill>
              </a:defRPr>
            </a:pPr>
            <a:r>
              <a:rPr sz="7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查询能力：JHipster Criteria / Supabase-ready</a:t>
            </a:r>
            <a:endParaRPr sz="70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exec-agent-frame"/>
          <p:cNvSpPr>
            <a:spLocks noGrp="1"/>
          </p:cNvSpPr>
          <p:nvPr/>
        </p:nvSpPr>
        <p:spPr>
          <a:xfrm>
            <a:off x="8609255" y="3048695"/>
            <a:ext cx="1638044" cy="1961843"/>
          </a:xfrm>
          <a:prstGeom prst="roundRect">
            <a:avLst>
              <a:gd name="adj" fmla="val 4651"/>
            </a:avLst>
          </a:prstGeom>
          <a:solidFill>
            <a:srgbClr val="FFFBEB"/>
          </a:solidFill>
          <a:ln w="11906">
            <a:solidFill>
              <a:srgbClr val="D9770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7" name="rule"/>
          <p:cNvSpPr>
            <a:spLocks noGrp="1"/>
          </p:cNvSpPr>
          <p:nvPr/>
        </p:nvSpPr>
        <p:spPr>
          <a:xfrm>
            <a:off x="8609255" y="3048695"/>
            <a:ext cx="1638044" cy="57141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38" name="exec-agent-title"/>
          <p:cNvSpPr>
            <a:spLocks noGrp="1"/>
          </p:cNvSpPr>
          <p:nvPr/>
        </p:nvSpPr>
        <p:spPr>
          <a:xfrm>
            <a:off x="8780678" y="3220118"/>
            <a:ext cx="1295198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Runtime Agent</a:t>
            </a:r>
            <a:endParaRPr sz="14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xec-agent-0"/>
          <p:cNvSpPr>
            <a:spLocks noGrp="1"/>
          </p:cNvSpPr>
          <p:nvPr/>
        </p:nvSpPr>
        <p:spPr>
          <a:xfrm>
            <a:off x="8799725" y="3639152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Agent API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exec-agent-1"/>
          <p:cNvSpPr>
            <a:spLocks noGrp="1"/>
          </p:cNvSpPr>
          <p:nvPr/>
        </p:nvSpPr>
        <p:spPr>
          <a:xfrm>
            <a:off x="8799725" y="3934381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Execution Planner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exec-agent-2"/>
          <p:cNvSpPr>
            <a:spLocks noGrp="1"/>
          </p:cNvSpPr>
          <p:nvPr/>
        </p:nvSpPr>
        <p:spPr>
          <a:xfrm>
            <a:off x="8799725" y="4229610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Dataset Adapter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exec-agent-3"/>
          <p:cNvSpPr>
            <a:spLocks noGrp="1"/>
          </p:cNvSpPr>
          <p:nvPr/>
        </p:nvSpPr>
        <p:spPr>
          <a:xfrm>
            <a:off x="8799725" y="4524839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Model Update Reporter</a:t>
            </a:r>
            <a:endParaRPr sz="6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exec-agent-loop"/>
          <p:cNvSpPr>
            <a:spLocks noGrp="1"/>
          </p:cNvSpPr>
          <p:nvPr/>
        </p:nvSpPr>
        <p:spPr>
          <a:xfrm>
            <a:off x="8780678" y="4801021"/>
            <a:ext cx="1295198" cy="1714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7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执行计划 → 本地训练</a:t>
            </a:r>
            <a:endParaRPr sz="7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7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模型更新 → 平台闭环</a:t>
            </a:r>
            <a:endParaRPr sz="7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exec-dependency-frame"/>
          <p:cNvSpPr>
            <a:spLocks noGrp="1"/>
          </p:cNvSpPr>
          <p:nvPr/>
        </p:nvSpPr>
        <p:spPr>
          <a:xfrm>
            <a:off x="10437769" y="3048695"/>
            <a:ext cx="895210" cy="1961843"/>
          </a:xfrm>
          <a:prstGeom prst="roundRect">
            <a:avLst>
              <a:gd name="adj" fmla="val 8511"/>
            </a:avLst>
          </a:prstGeom>
          <a:solidFill>
            <a:srgbClr val="FFFBEB"/>
          </a:solidFill>
          <a:ln w="10954">
            <a:solidFill>
              <a:srgbClr val="D9770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5" name="exec-dep-title"/>
          <p:cNvSpPr>
            <a:spLocks noGrp="1"/>
          </p:cNvSpPr>
          <p:nvPr/>
        </p:nvSpPr>
        <p:spPr>
          <a:xfrm>
            <a:off x="10552051" y="3220118"/>
            <a:ext cx="666646" cy="20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支撑能力</a:t>
            </a:r>
            <a:endParaRPr sz="12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exec-dep-0"/>
          <p:cNvSpPr>
            <a:spLocks noGrp="1"/>
          </p:cNvSpPr>
          <p:nvPr/>
        </p:nvSpPr>
        <p:spPr>
          <a:xfrm>
            <a:off x="10571098" y="3601058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IAM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exec-dep-1"/>
          <p:cNvSpPr>
            <a:spLocks noGrp="1"/>
          </p:cNvSpPr>
          <p:nvPr/>
        </p:nvSpPr>
        <p:spPr>
          <a:xfrm>
            <a:off x="10571098" y="3867717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文件上传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exec-dep-2"/>
          <p:cNvSpPr>
            <a:spLocks noGrp="1"/>
          </p:cNvSpPr>
          <p:nvPr/>
        </p:nvSpPr>
        <p:spPr>
          <a:xfrm>
            <a:off x="10571098" y="4134375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模型仓库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exec-dep-3"/>
          <p:cNvSpPr>
            <a:spLocks noGrp="1"/>
          </p:cNvSpPr>
          <p:nvPr/>
        </p:nvSpPr>
        <p:spPr>
          <a:xfrm>
            <a:off x="10571098" y="4401033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告警通知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exec-dep-4"/>
          <p:cNvSpPr>
            <a:spLocks noGrp="1"/>
          </p:cNvSpPr>
          <p:nvPr/>
        </p:nvSpPr>
        <p:spPr>
          <a:xfrm>
            <a:off x="10571098" y="4667692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审计治理</a:t>
            </a:r>
            <a:endParaRPr sz="5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exec-arrow-actor-platform"/>
          <p:cNvSpPr>
            <a:spLocks noGrp="1"/>
          </p:cNvSpPr>
          <p:nvPr/>
        </p:nvSpPr>
        <p:spPr>
          <a:xfrm>
            <a:off x="2895148" y="4334369"/>
            <a:ext cx="209517" cy="171423"/>
          </a:xfrm>
          <a:prstGeom prst="right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2" name="exec-arrow-platform-agent"/>
          <p:cNvSpPr>
            <a:spLocks noGrp="1"/>
          </p:cNvSpPr>
          <p:nvPr/>
        </p:nvSpPr>
        <p:spPr>
          <a:xfrm>
            <a:off x="8399737" y="3943905"/>
            <a:ext cx="228564" cy="171423"/>
          </a:xfrm>
          <a:prstGeom prst="right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3" name="exec-arrow-agent-platform"/>
          <p:cNvSpPr>
            <a:spLocks noGrp="1"/>
          </p:cNvSpPr>
          <p:nvPr/>
        </p:nvSpPr>
        <p:spPr>
          <a:xfrm>
            <a:off x="8399737" y="4572456"/>
            <a:ext cx="228564" cy="171423"/>
          </a:xfrm>
          <a:prstGeom prst="leftArrow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4" name="exec-task-label"/>
          <p:cNvSpPr>
            <a:spLocks noGrp="1"/>
          </p:cNvSpPr>
          <p:nvPr/>
        </p:nvSpPr>
        <p:spPr>
          <a:xfrm>
            <a:off x="8361643" y="3715340"/>
            <a:ext cx="285705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640" b="1">
                <a:solidFill>
                  <a:srgbClr val="D97706"/>
                </a:solidFill>
              </a:defRPr>
            </a:pPr>
            <a:r>
              <a:rPr sz="74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任务</a:t>
            </a:r>
            <a:endParaRPr sz="74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640" b="1">
                <a:solidFill>
                  <a:srgbClr val="D97706"/>
                </a:solidFill>
              </a:defRPr>
            </a:pPr>
            <a:r>
              <a:rPr sz="74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策略</a:t>
            </a:r>
            <a:endParaRPr sz="74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exec-feedback-label"/>
          <p:cNvSpPr>
            <a:spLocks noGrp="1"/>
          </p:cNvSpPr>
          <p:nvPr/>
        </p:nvSpPr>
        <p:spPr>
          <a:xfrm>
            <a:off x="8361643" y="4743880"/>
            <a:ext cx="285705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640" b="1">
                <a:solidFill>
                  <a:srgbClr val="E11D48"/>
                </a:solidFill>
              </a:defRPr>
            </a:pPr>
            <a:r>
              <a:rPr sz="74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遥测</a:t>
            </a:r>
            <a:endParaRPr sz="74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640" b="1">
                <a:solidFill>
                  <a:srgbClr val="E11D48"/>
                </a:solidFill>
              </a:defRPr>
            </a:pPr>
            <a:r>
              <a:rPr sz="74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结果</a:t>
            </a:r>
            <a:endParaRPr sz="74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exec-arrow-platform-up"/>
          <p:cNvSpPr>
            <a:spLocks noGrp="1"/>
          </p:cNvSpPr>
          <p:nvPr/>
        </p:nvSpPr>
        <p:spPr>
          <a:xfrm>
            <a:off x="5695060" y="2534425"/>
            <a:ext cx="323799" cy="323799"/>
          </a:xfrm>
          <a:prstGeom prst="up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7" name="exec-arrow-agent-up"/>
          <p:cNvSpPr>
            <a:spLocks noGrp="1"/>
          </p:cNvSpPr>
          <p:nvPr/>
        </p:nvSpPr>
        <p:spPr>
          <a:xfrm>
            <a:off x="9256853" y="2534425"/>
            <a:ext cx="323799" cy="323799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8" name="exec-arrow-dep-up"/>
          <p:cNvSpPr>
            <a:spLocks noGrp="1"/>
          </p:cNvSpPr>
          <p:nvPr/>
        </p:nvSpPr>
        <p:spPr>
          <a:xfrm>
            <a:off x="10723474" y="2534425"/>
            <a:ext cx="323799" cy="323799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9" name="exec-output-label"/>
          <p:cNvSpPr>
            <a:spLocks noGrp="1"/>
          </p:cNvSpPr>
          <p:nvPr/>
        </p:nvSpPr>
        <p:spPr>
          <a:xfrm>
            <a:off x="7047399" y="2324908"/>
            <a:ext cx="1523762" cy="20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能力统一输出</a:t>
            </a:r>
            <a:endParaRPr sz="12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exec-infra-band"/>
          <p:cNvSpPr>
            <a:spLocks noGrp="1"/>
          </p:cNvSpPr>
          <p:nvPr/>
        </p:nvSpPr>
        <p:spPr>
          <a:xfrm>
            <a:off x="552364" y="5467667"/>
            <a:ext cx="11085368" cy="78092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exec-infra-title"/>
          <p:cNvSpPr>
            <a:spLocks noGrp="1"/>
          </p:cNvSpPr>
          <p:nvPr/>
        </p:nvSpPr>
        <p:spPr>
          <a:xfrm>
            <a:off x="799975" y="5734325"/>
            <a:ext cx="1676138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基础设施与部署</a:t>
            </a:r>
            <a:endParaRPr sz="1800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exec-infra-0"/>
          <p:cNvSpPr>
            <a:spLocks noGrp="1"/>
          </p:cNvSpPr>
          <p:nvPr/>
        </p:nvSpPr>
        <p:spPr>
          <a:xfrm>
            <a:off x="2628489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95" b="1">
                <a:solidFill>
                  <a:srgbClr val="2563EB"/>
                </a:solidFill>
              </a:defRPr>
            </a:pPr>
            <a:r>
              <a:rPr sz="6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Docker Compose</a:t>
            </a:r>
            <a:endParaRPr sz="6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exec-infra-1"/>
          <p:cNvSpPr>
            <a:spLocks noGrp="1"/>
          </p:cNvSpPr>
          <p:nvPr/>
        </p:nvSpPr>
        <p:spPr>
          <a:xfrm>
            <a:off x="3580840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795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K3s / K8s</a:t>
            </a:r>
            <a:endParaRPr sz="900" b="1">
              <a:solidFill>
                <a:srgbClr val="2563E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exec-infra-2"/>
          <p:cNvSpPr>
            <a:spLocks noGrp="1"/>
          </p:cNvSpPr>
          <p:nvPr/>
        </p:nvSpPr>
        <p:spPr>
          <a:xfrm>
            <a:off x="4533192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795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  <a:latin typeface="微软雅黑"/>
                <a:ea typeface="微软雅黑"/>
                <a:cs typeface="微软雅黑"/>
              </a:rPr>
              <a:t>PostgreSQL</a:t>
            </a:r>
            <a:endParaRPr sz="900" b="1">
              <a:solidFill>
                <a:srgbClr val="0F766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exec-infra-3"/>
          <p:cNvSpPr>
            <a:spLocks noGrp="1"/>
          </p:cNvSpPr>
          <p:nvPr/>
        </p:nvSpPr>
        <p:spPr>
          <a:xfrm>
            <a:off x="5485543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E11D4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95" b="1">
                <a:solidFill>
                  <a:srgbClr val="E11D48"/>
                </a:solidFill>
              </a:defRPr>
            </a:pPr>
            <a:r>
              <a:rPr sz="600" b="1">
                <a:solidFill>
                  <a:srgbClr val="E11D48"/>
                </a:solidFill>
                <a:latin typeface="微软雅黑"/>
                <a:ea typeface="微软雅黑"/>
                <a:cs typeface="微软雅黑"/>
              </a:rPr>
              <a:t>UmaDB 0.7.8</a:t>
            </a:r>
            <a:endParaRPr sz="600" b="1">
              <a:solidFill>
                <a:srgbClr val="E11D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exec-infra-4"/>
          <p:cNvSpPr>
            <a:spLocks noGrp="1"/>
          </p:cNvSpPr>
          <p:nvPr/>
        </p:nvSpPr>
        <p:spPr>
          <a:xfrm>
            <a:off x="6495035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795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Supabase</a:t>
            </a:r>
            <a:endParaRPr sz="90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exec-infra-6"/>
          <p:cNvSpPr>
            <a:spLocks noGrp="1"/>
          </p:cNvSpPr>
          <p:nvPr/>
        </p:nvSpPr>
        <p:spPr>
          <a:xfrm>
            <a:off x="7561668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795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对象存储</a:t>
            </a:r>
            <a:endParaRPr sz="900" b="1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9" name="exec-infra-7"/>
          <p:cNvSpPr>
            <a:spLocks noGrp="1"/>
          </p:cNvSpPr>
          <p:nvPr/>
        </p:nvSpPr>
        <p:spPr>
          <a:xfrm>
            <a:off x="8647349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795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CI/CD</a:t>
            </a:r>
            <a:endParaRPr sz="9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exec-infra-8"/>
          <p:cNvSpPr>
            <a:spLocks noGrp="1"/>
          </p:cNvSpPr>
          <p:nvPr/>
        </p:nvSpPr>
        <p:spPr>
          <a:xfrm>
            <a:off x="9733029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795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  <a:latin typeface="微软雅黑"/>
                <a:ea typeface="微软雅黑"/>
                <a:cs typeface="微软雅黑"/>
              </a:rPr>
              <a:t>日志 / 遥测</a:t>
            </a:r>
            <a:endParaRPr sz="900" b="1">
              <a:solidFill>
                <a:srgbClr val="D9770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exec-arrow-infra-platform"/>
          <p:cNvSpPr>
            <a:spLocks noGrp="1"/>
          </p:cNvSpPr>
          <p:nvPr/>
        </p:nvSpPr>
        <p:spPr>
          <a:xfrm>
            <a:off x="5542684" y="5220055"/>
            <a:ext cx="323799" cy="247611"/>
          </a:xfrm>
          <a:prstGeom prst="up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2" name="exec-arrow-infra-agent"/>
          <p:cNvSpPr>
            <a:spLocks noGrp="1"/>
          </p:cNvSpPr>
          <p:nvPr/>
        </p:nvSpPr>
        <p:spPr>
          <a:xfrm>
            <a:off x="9275900" y="5220055"/>
            <a:ext cx="323799" cy="247611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73" name="exec-arrow-infra-dep"/>
          <p:cNvSpPr>
            <a:spLocks noGrp="1"/>
          </p:cNvSpPr>
          <p:nvPr/>
        </p:nvSpPr>
        <p:spPr>
          <a:xfrm>
            <a:off x="10723474" y="5220055"/>
            <a:ext cx="323799" cy="247611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74" name="rule"/>
          <p:cNvSpPr>
            <a:spLocks noGrp="1"/>
          </p:cNvSpPr>
          <p:nvPr/>
        </p:nvSpPr>
        <p:spPr>
          <a:xfrm>
            <a:off x="514270" y="6286689"/>
            <a:ext cx="11161556" cy="9524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29" name="TextBox 6"/>
          <p:cNvSpPr>
            <a:spLocks noGrp="1"/>
          </p:cNvSpPr>
          <p:nvPr/>
        </p:nvSpPr>
        <p:spPr>
          <a:xfrm>
            <a:off x="406400" y="117475"/>
            <a:ext cx="11326495" cy="5124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1.2.3 </a:t>
            </a:r>
            <a:r>
              <a:rPr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事件驱动的联邦学习</a:t>
            </a:r>
            <a:r>
              <a:rPr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平台全景架构</a:t>
            </a:r>
            <a:endParaRPr b="1" i="0" u="none" spc="150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WPS 演示</Application>
  <PresentationFormat>Converted Presentation</PresentationFormat>
  <Paragraphs>104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</vt:lpstr>
      <vt:lpstr>Wingdings 3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1_自定义设计方案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WPS_1695173164</cp:lastModifiedBy>
  <cp:revision>1</cp:revision>
  <dcterms:created xsi:type="dcterms:W3CDTF">2026-08-31T10:14:48Z</dcterms:created>
  <dcterms:modified xsi:type="dcterms:W3CDTF">2026-08-31T10:14:48Z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FE2A43E639C7BF491854956AA0B35F4F_42</vt:lpwstr>
  </property>
  <property fmtid="{D5CDD505-2E9C-101B-9397-08002B2CF9AE}" pid="3" name="KSOProductBuildVer">
    <vt:lpwstr>2052-6.7.1.8828</vt:lpwstr>
  </property>
</Properties>
</file>