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6d51a07c1541b9" /><Relationship Type="http://schemas.openxmlformats.org/officeDocument/2006/relationships/extended-properties" Target="/docProps/app.xml" Id="R208a3f9d62e546c3" /><Relationship Type="http://schemas.openxmlformats.org/officeDocument/2006/relationships/officeDocument" Target="/ppt/presentation.xml" Id="Rf6f7d3d1c49a4a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3065e96724d42"/>
  </p:sldMasterIdLst>
  <p:notesMasterIdLst>
    <p:notesMasterId xmlns:r="http://schemas.openxmlformats.org/officeDocument/2006/relationships" r:id="R077e77399a784bf7"/>
  </p:notesMasterIdLst>
  <p:sldIdLst>
    <p:sldId xmlns:r="http://schemas.openxmlformats.org/officeDocument/2006/relationships" id="256" r:id="R30b1086575a246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cdd8a25c924b68" /><Relationship Type="http://schemas.openxmlformats.org/officeDocument/2006/relationships/slideMaster" Target="/ppt/slideMasters/slideMaster1.xml" Id="R00a3065e96724d42" /><Relationship Type="http://schemas.openxmlformats.org/officeDocument/2006/relationships/notesMaster" Target="/ppt/notesMasters/notesMaster1.xml" Id="R077e77399a784bf7" /><Relationship Type="http://schemas.openxmlformats.org/officeDocument/2006/relationships/presProps" Target="/ppt/presProps.xml" Id="R585d1b7e84374bb7" /><Relationship Type="http://schemas.openxmlformats.org/officeDocument/2006/relationships/tableStyles" Target="/ppt/tableStyles.xml" Id="Rd8dafc1d7f954b66" /><Relationship Type="http://schemas.openxmlformats.org/officeDocument/2006/relationships/slide" Target="/ppt/slides/slide1.xml" Id="R30b1086575a2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e36a4ff73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3b3aec14034ed7" /><Relationship Type="http://schemas.openxmlformats.org/officeDocument/2006/relationships/notesMaster" Target="/ppt/notesMasters/notesMaster1.xml" Id="R2fdff6dfa9f743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2c08b710e48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cb88c2005a4b49" /><Relationship Type="http://schemas.openxmlformats.org/officeDocument/2006/relationships/slideLayout" Target="/ppt/slideLayouts/slideLayout1.xml" Id="Rb181d08c19ed49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81d08c19ed49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4156552b44f43" /><Relationship Type="http://schemas.openxmlformats.org/officeDocument/2006/relationships/notesSlide" Target="/ppt/notesSlides/notesSlide1.xml" Id="Rc26f04064f8345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97848B0E-0241-40E9-BA53-99073FF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联邦学习子系统 | 部署模块能力总览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4F7803-6459-4EFE-ACA7-B1E99303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三个部署模块承接平台管理、业务编排与运行侧执行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A86B42A-BBB7-42F0-8D57-CEED298A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基于 federation learning 建模与安装部署文档梳理；下方保留截图位置，便于后续替换为真实系统界面。</a:t>
            </a:r>
          </a:p>
        </p:txBody>
      </p:sp>
      <p:sp>
        <p:nvSpPr>
          <p:cNvPr id="4" name="web-summary-panel">
            <a:extLst xmlns:a="http://schemas.openxmlformats.org/drawingml/2006/main">
              <a:ext uri="{FF2B5EF4-FFF2-40B4-BE49-F238E27FC236}">
                <a16:creationId xmlns:a16="http://schemas.microsoft.com/office/drawing/2014/main" id="{CFDF1A5E-32C3-4C11-9092-3FF40E31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956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web-title">
            <a:extLst xmlns:a="http://schemas.openxmlformats.org/drawingml/2006/main">
              <a:ext uri="{FF2B5EF4-FFF2-40B4-BE49-F238E27FC236}">
                <a16:creationId xmlns:a16="http://schemas.microsoft.com/office/drawing/2014/main" id="{38742DE2-092C-4741-B8DB-8A55BD7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Web 管理端</a:t>
            </a:r>
          </a:p>
        </p:txBody>
      </p:sp>
      <p:sp>
        <p:nvSpPr>
          <p:cNvPr id="6" name="web-subtitle">
            <a:extLst xmlns:a="http://schemas.openxmlformats.org/drawingml/2006/main">
              <a:ext uri="{FF2B5EF4-FFF2-40B4-BE49-F238E27FC236}">
                <a16:creationId xmlns:a16="http://schemas.microsoft.com/office/drawing/2014/main" id="{8AB446FC-DEBC-4A8E-9460-F8033CF8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统一业务入口与可视化操作台</a:t>
            </a:r>
          </a:p>
        </p:txBody>
      </p:sp>
      <p:sp>
        <p:nvSpPr>
          <p:cNvPr id="7" name="web-point-1">
            <a:extLst xmlns:a="http://schemas.openxmlformats.org/drawingml/2006/main">
              <a:ext uri="{FF2B5EF4-FFF2-40B4-BE49-F238E27FC236}">
                <a16:creationId xmlns:a16="http://schemas.microsoft.com/office/drawing/2014/main" id="{C991558F-34EC-4902-A9A8-66D1B1B8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组织、联邦、数据集、模型与训练任务管理</a:t>
            </a:r>
          </a:p>
        </p:txBody>
      </p:sp>
      <p:sp>
        <p:nvSpPr>
          <p:cNvPr id="8" name="web-point-2">
            <a:extLst xmlns:a="http://schemas.openxmlformats.org/drawingml/2006/main">
              <a:ext uri="{FF2B5EF4-FFF2-40B4-BE49-F238E27FC236}">
                <a16:creationId xmlns:a16="http://schemas.microsoft.com/office/drawing/2014/main" id="{0E0D0940-4000-47E2-A644-36604869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运行时状态、审批结果与业务视图展示</a:t>
            </a:r>
          </a:p>
        </p:txBody>
      </p:sp>
      <p:sp>
        <p:nvSpPr>
          <p:cNvPr id="9" name="web-point-3">
            <a:extLst xmlns:a="http://schemas.openxmlformats.org/drawingml/2006/main">
              <a:ext uri="{FF2B5EF4-FFF2-40B4-BE49-F238E27FC236}">
                <a16:creationId xmlns:a16="http://schemas.microsoft.com/office/drawing/2014/main" id="{3477926D-62FF-460B-9F14-36DE0D3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支持平台管理员、组织管理员和业务用户操作</a:t>
            </a:r>
          </a:p>
        </p:txBody>
      </p:sp>
      <p:sp>
        <p:nvSpPr>
          <p:cNvPr id="10" name="web-screenshot-frame">
            <a:extLst xmlns:a="http://schemas.openxmlformats.org/drawingml/2006/main">
              <a:ext uri="{FF2B5EF4-FFF2-40B4-BE49-F238E27FC236}">
                <a16:creationId xmlns:a16="http://schemas.microsoft.com/office/drawing/2014/main" id="{AE022232-03A0-479C-B0AE-1AA47135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95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1" name="web-screenshot-label">
            <a:extLst xmlns:a="http://schemas.openxmlformats.org/drawingml/2006/main">
              <a:ext uri="{FF2B5EF4-FFF2-40B4-BE49-F238E27FC236}">
                <a16:creationId xmlns:a16="http://schemas.microsoft.com/office/drawing/2014/main" id="{F087C45F-4B03-4F2E-B09A-548CE2E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系统截图空间</a:t>
            </a:r>
          </a:p>
        </p:txBody>
      </p:sp>
      <p:sp>
        <p:nvSpPr>
          <p:cNvPr id="12" name="web-screenshot-hint">
            <a:extLst xmlns:a="http://schemas.openxmlformats.org/drawingml/2006/main">
              <a:ext uri="{FF2B5EF4-FFF2-40B4-BE49-F238E27FC236}">
                <a16:creationId xmlns:a16="http://schemas.microsoft.com/office/drawing/2014/main" id="{438B703F-CF0F-4360-88FC-9A2DDFE5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建议放置首页、训练编排或运行时监控截图</a:t>
            </a:r>
          </a:p>
        </p:txBody>
      </p:sp>
      <p:sp>
        <p:nvSpPr>
          <p:cNvPr id="13" name="backend-summary-panel">
            <a:extLst xmlns:a="http://schemas.openxmlformats.org/drawingml/2006/main">
              <a:ext uri="{FF2B5EF4-FFF2-40B4-BE49-F238E27FC236}">
                <a16:creationId xmlns:a16="http://schemas.microsoft.com/office/drawing/2014/main" id="{5AD6ED0A-97C5-48AD-A285-B551FECF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524000"/>
            <a:ext cx="32956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B689999F-7FC7-43BE-A5DC-C454E21F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335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平台后端服务</a:t>
            </a:r>
          </a:p>
        </p:txBody>
      </p:sp>
      <p:sp>
        <p:nvSpPr>
          <p:cNvPr id="15" name="backend-subtitle">
            <a:extLst xmlns:a="http://schemas.openxmlformats.org/drawingml/2006/main">
              <a:ext uri="{FF2B5EF4-FFF2-40B4-BE49-F238E27FC236}">
                <a16:creationId xmlns:a16="http://schemas.microsoft.com/office/drawing/2014/main" id="{0638368A-F889-45D1-A17C-DACF4E75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955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领域规则、事件状态与集成编排中心</a:t>
            </a:r>
          </a:p>
        </p:txBody>
      </p:sp>
      <p:sp>
        <p:nvSpPr>
          <p:cNvPr id="16" name="backend-point-1">
            <a:extLst xmlns:a="http://schemas.openxmlformats.org/drawingml/2006/main">
              <a:ext uri="{FF2B5EF4-FFF2-40B4-BE49-F238E27FC236}">
                <a16:creationId xmlns:a16="http://schemas.microsoft.com/office/drawing/2014/main" id="{3819292B-22FD-4528-B021-2C9CBBCF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527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命令校验、业务规则、事件记录和状态流转</a:t>
            </a:r>
          </a:p>
        </p:txBody>
      </p:sp>
      <p:sp>
        <p:nvSpPr>
          <p:cNvPr id="17" name="backend-point-2">
            <a:extLst xmlns:a="http://schemas.openxmlformats.org/drawingml/2006/main">
              <a:ext uri="{FF2B5EF4-FFF2-40B4-BE49-F238E27FC236}">
                <a16:creationId xmlns:a16="http://schemas.microsoft.com/office/drawing/2014/main" id="{F2515603-C93D-49BE-AE38-7DDFF01C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289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模型仓库、训练编排、安全聚合与运行时治理</a:t>
            </a:r>
          </a:p>
        </p:txBody>
      </p:sp>
      <p:sp>
        <p:nvSpPr>
          <p:cNvPr id="18" name="backend-point-3">
            <a:extLst xmlns:a="http://schemas.openxmlformats.org/drawingml/2006/main">
              <a:ext uri="{FF2B5EF4-FFF2-40B4-BE49-F238E27FC236}">
                <a16:creationId xmlns:a16="http://schemas.microsoft.com/office/drawing/2014/main" id="{7F7E5B70-163B-4B1F-AC25-8467ECCA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052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对接数据库、对象存储、消息调度和外部服务</a:t>
            </a:r>
          </a:p>
        </p:txBody>
      </p:sp>
      <p:sp>
        <p:nvSpPr>
          <p:cNvPr id="19" name="backend-screenshot-frame">
            <a:extLst xmlns:a="http://schemas.openxmlformats.org/drawingml/2006/main">
              <a:ext uri="{FF2B5EF4-FFF2-40B4-BE49-F238E27FC236}">
                <a16:creationId xmlns:a16="http://schemas.microsoft.com/office/drawing/2014/main" id="{13841B74-9515-4D42-86AA-55E40AC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33900"/>
            <a:ext cx="3295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0" name="backend-screenshot-label">
            <a:extLst xmlns:a="http://schemas.openxmlformats.org/drawingml/2006/main">
              <a:ext uri="{FF2B5EF4-FFF2-40B4-BE49-F238E27FC236}">
                <a16:creationId xmlns:a16="http://schemas.microsoft.com/office/drawing/2014/main" id="{672CAE85-5141-4D91-8A21-5AD06CA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101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系统截图空间</a:t>
            </a:r>
          </a:p>
        </p:txBody>
      </p:sp>
      <p:sp>
        <p:nvSpPr>
          <p:cNvPr id="21" name="backend-screenshot-hint">
            <a:extLst xmlns:a="http://schemas.openxmlformats.org/drawingml/2006/main">
              <a:ext uri="{FF2B5EF4-FFF2-40B4-BE49-F238E27FC236}">
                <a16:creationId xmlns:a16="http://schemas.microsoft.com/office/drawing/2014/main" id="{F2121B72-C614-40F2-8EF9-0DECD3E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721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建议放置接口、任务流或运维监控截图</a:t>
            </a:r>
          </a:p>
        </p:txBody>
      </p:sp>
      <p:sp>
        <p:nvSpPr>
          <p:cNvPr id="22" name="agent-summary-panel">
            <a:extLst xmlns:a="http://schemas.openxmlformats.org/drawingml/2006/main">
              <a:ext uri="{FF2B5EF4-FFF2-40B4-BE49-F238E27FC236}">
                <a16:creationId xmlns:a16="http://schemas.microsoft.com/office/drawing/2014/main" id="{58D6C57D-E5B8-496B-BF74-27589C4F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2956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1A32A01C-BA41-4894-BDA8-708DFD2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335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运行时代理</a:t>
            </a:r>
          </a:p>
        </p:txBody>
      </p:sp>
      <p:sp>
        <p:nvSpPr>
          <p:cNvPr id="24" name="agent-subtitle">
            <a:extLst xmlns:a="http://schemas.openxmlformats.org/drawingml/2006/main">
              <a:ext uri="{FF2B5EF4-FFF2-40B4-BE49-F238E27FC236}">
                <a16:creationId xmlns:a16="http://schemas.microsoft.com/office/drawing/2014/main" id="{0490F575-3E40-4915-8878-6B6A4A6D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连接组织侧算力与平台控制面</a:t>
            </a:r>
          </a:p>
        </p:txBody>
      </p:sp>
      <p:sp>
        <p:nvSpPr>
          <p:cNvPr id="25" name="agent-point-1">
            <a:extLst xmlns:a="http://schemas.openxmlformats.org/drawingml/2006/main">
              <a:ext uri="{FF2B5EF4-FFF2-40B4-BE49-F238E27FC236}">
                <a16:creationId xmlns:a16="http://schemas.microsoft.com/office/drawing/2014/main" id="{284C1F23-9F81-447A-A52F-0FDFCC8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代理启动、自检、认证连接和健康上报</a:t>
            </a:r>
          </a:p>
        </p:txBody>
      </p:sp>
      <p:sp>
        <p:nvSpPr>
          <p:cNvPr id="26" name="agent-point-2">
            <a:extLst xmlns:a="http://schemas.openxmlformats.org/drawingml/2006/main">
              <a:ext uri="{FF2B5EF4-FFF2-40B4-BE49-F238E27FC236}">
                <a16:creationId xmlns:a16="http://schemas.microsoft.com/office/drawing/2014/main" id="{088A765C-6A51-4C77-8651-59072899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数据集画像、契约校验、训练轮次执行</a:t>
            </a:r>
          </a:p>
        </p:txBody>
      </p:sp>
      <p:sp>
        <p:nvSpPr>
          <p:cNvPr id="27" name="agent-point-3">
            <a:extLst xmlns:a="http://schemas.openxmlformats.org/drawingml/2006/main">
              <a:ext uri="{FF2B5EF4-FFF2-40B4-BE49-F238E27FC236}">
                <a16:creationId xmlns:a16="http://schemas.microsoft.com/office/drawing/2014/main" id="{9CED2358-8DDC-4D58-A0E2-136186BB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隔离本地数据访问，回传训练结果和资源状态</a:t>
            </a:r>
          </a:p>
        </p:txBody>
      </p:sp>
      <p:sp>
        <p:nvSpPr>
          <p:cNvPr id="28" name="agent-screenshot-frame">
            <a:extLst xmlns:a="http://schemas.openxmlformats.org/drawingml/2006/main">
              <a:ext uri="{FF2B5EF4-FFF2-40B4-BE49-F238E27FC236}">
                <a16:creationId xmlns:a16="http://schemas.microsoft.com/office/drawing/2014/main" id="{8463D137-87F0-4679-8535-148E331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3295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9" name="agent-screenshot-label">
            <a:extLst xmlns:a="http://schemas.openxmlformats.org/drawingml/2006/main">
              <a:ext uri="{FF2B5EF4-FFF2-40B4-BE49-F238E27FC236}">
                <a16:creationId xmlns:a16="http://schemas.microsoft.com/office/drawing/2014/main" id="{AADC4EF9-F219-4C3A-AF40-CECFF6E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系统截图空间</a:t>
            </a:r>
          </a:p>
        </p:txBody>
      </p:sp>
      <p:sp>
        <p:nvSpPr>
          <p:cNvPr id="30" name="agent-screenshot-hint">
            <a:extLst xmlns:a="http://schemas.openxmlformats.org/drawingml/2006/main">
              <a:ext uri="{FF2B5EF4-FFF2-40B4-BE49-F238E27FC236}">
                <a16:creationId xmlns:a16="http://schemas.microsoft.com/office/drawing/2014/main" id="{22C77B22-ACA3-4AC9-AC17-D5A4018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721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建议放置代理状态、任务执行或节点资源截图</a:t>
            </a:r>
          </a:p>
        </p:txBody>
      </p:sp>
    </p:spTree>
    <p:extLst>
      <p:ext uri="{BB962C8B-B14F-4D97-AF65-F5344CB8AC3E}">
        <p14:creationId xmlns:p14="http://schemas.microsoft.com/office/powerpoint/2010/main" val="913189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2026-08-31T09:56:27.7700000Z</dcterms:created>
  <dcterms:modified xsi:type="dcterms:W3CDTF">2026-08-31T09:56:27.7710000Z</dcterms:modified>
</coreProperties>
</file>